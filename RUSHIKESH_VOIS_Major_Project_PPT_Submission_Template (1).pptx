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0" r:id="rId11"/>
    <p:sldId id="344" r:id="rId12"/>
    <p:sldId id="345" r:id="rId13"/>
    <p:sldId id="346"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5033" autoAdjust="0"/>
  </p:normalViewPr>
  <p:slideViewPr>
    <p:cSldViewPr snapToGrid="0">
      <p:cViewPr varScale="1">
        <p:scale>
          <a:sx n="44" d="100"/>
          <a:sy n="44" d="100"/>
        </p:scale>
        <p:origin x="864" y="60"/>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9/9/2026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9/9/2026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9/9/2026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9/9/2026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9/9/2026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rushikeshgogula05-lang/Seasonal-Agriculture-Performance-Analysis" TargetMode="External"/><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hyperlink" Target="https://drive.google.com/file/d/1Mc97B3NMHlMA3V-xCTGgE2XWhKcNhulN/view?usp=sharing" TargetMode="External"/><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1407979" y="3220278"/>
            <a:ext cx="5594884" cy="1113355"/>
          </a:xfrm>
        </p:spPr>
        <p:txBody>
          <a:bodyPr vert="horz" lIns="91440" tIns="45720" rIns="91440" bIns="45720" rtlCol="0" anchor="t">
            <a:normAutofit lnSpcReduction="10000"/>
          </a:bodyPr>
          <a:lstStyle/>
          <a:p>
            <a:pPr algn="r"/>
            <a:r>
              <a:rPr lang="en-US" b="0" dirty="0">
                <a:solidFill>
                  <a:schemeClr val="tx1"/>
                </a:solidFill>
              </a:rPr>
              <a:t>[Student Name RUSHIKESH MAHENDRA GOGULA</a:t>
            </a:r>
            <a:endParaRPr lang="en-IN" b="0" dirty="0">
              <a:solidFill>
                <a:schemeClr val="tx1"/>
              </a:solidFill>
            </a:endParaRPr>
          </a:p>
          <a:p>
            <a:pPr algn="r"/>
            <a:r>
              <a:rPr lang="en-US" b="0" dirty="0">
                <a:solidFill>
                  <a:schemeClr val="tx1"/>
                </a:solidFill>
              </a:rPr>
              <a:t>College Name-SASMIRA INSTITUTE OF COMMERCE AND SCIENCE ]</a:t>
            </a:r>
            <a:endParaRPr lang="en-IN"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1540501" y="1567382"/>
            <a:ext cx="4998720" cy="922270"/>
          </a:xfrm>
        </p:spPr>
        <p:txBody>
          <a:bodyPr>
            <a:normAutofit fontScale="90000"/>
          </a:bodyPr>
          <a:lstStyle/>
          <a:p>
            <a:pPr algn="ctr"/>
            <a:r>
              <a:rPr lang="en-GB" sz="3200" dirty="0"/>
              <a:t>Project Title –VOIS MAJOR PROJECT PPT</a:t>
            </a:r>
            <a:endParaRPr lang="en-IN" sz="3200" dirty="0"/>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1407979" y="4402629"/>
            <a:ext cx="5738191" cy="769441"/>
          </a:xfrm>
          <a:prstGeom prst="rect">
            <a:avLst/>
          </a:prstGeom>
          <a:noFill/>
        </p:spPr>
        <p:txBody>
          <a:bodyPr wrap="square" rtlCol="0">
            <a:spAutoFit/>
          </a:bodyPr>
          <a:lstStyle/>
          <a:p>
            <a:r>
              <a:rPr lang="en-US" sz="2200" b="1" dirty="0"/>
              <a:t>AICTE STU ID : </a:t>
            </a:r>
            <a:r>
              <a:rPr lang="en-IN" sz="2200" b="1" i="0" dirty="0">
                <a:solidFill>
                  <a:srgbClr val="020617"/>
                </a:solidFill>
                <a:effectLst/>
                <a:latin typeface="__Plus_Jakarta_Sans_a11773"/>
              </a:rPr>
              <a:t>STU6a619feb072c31784782827</a:t>
            </a:r>
            <a:endParaRPr lang="en-US" sz="2200" b="1" dirty="0"/>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754602" y="1682516"/>
            <a:ext cx="6703726" cy="4789404"/>
          </a:xfrm>
        </p:spPr>
        <p:txBody>
          <a:bodyPr vert="horz" lIns="91440" tIns="45720" rIns="91440" bIns="45720" rtlCol="0" anchor="t">
            <a:normAutofit fontScale="62500" lnSpcReduction="20000"/>
          </a:bodyPr>
          <a:lstStyle/>
          <a:p>
            <a:pPr marL="0" indent="0">
              <a:lnSpc>
                <a:spcPct val="150000"/>
              </a:lnSpc>
              <a:buNone/>
            </a:pPr>
            <a:r>
              <a:rPr lang="en-US" sz="2800" b="1" dirty="0"/>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 </a:t>
            </a:r>
            <a:endParaRPr lang="en-IN" sz="2800" b="1"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295951" y="424070"/>
            <a:ext cx="9325127" cy="5698435"/>
          </a:xfrm>
        </p:spPr>
        <p:txBody>
          <a:bodyPr>
            <a:normAutofit fontScale="90000"/>
          </a:bodyPr>
          <a:lstStyle/>
          <a:p>
            <a:br>
              <a:rPr lang="en-GB" dirty="0"/>
            </a:br>
            <a:r>
              <a:rPr lang="en-GB" dirty="0"/>
              <a:t>Project Description</a:t>
            </a:r>
            <a:br>
              <a:rPr lang="en-GB" dirty="0"/>
            </a:br>
            <a:r>
              <a:rPr lang="en-GB" dirty="0"/>
              <a:t> </a:t>
            </a:r>
            <a:r>
              <a:rPr lang="en-US" sz="2400" dirty="0"/>
              <a:t>The project focuses on analyzing agricultural data collected across different seasons, crops, geographical areas and farming conditions.</a:t>
            </a:r>
            <a:br>
              <a:rPr lang="en-US" sz="2400" dirty="0"/>
            </a:br>
            <a:r>
              <a:rPr lang="en-US" sz="2400" dirty="0"/>
              <a:t>The dataset contains information about environmental conditions, irrigation methods, crop yield, production, water usage, water efficiency, market prices, costs and profits.</a:t>
            </a:r>
            <a:br>
              <a:rPr lang="en-US" sz="2400" dirty="0"/>
            </a:br>
            <a:r>
              <a:rPr lang="en-US" sz="2400" dirty="0"/>
              <a:t>The data was explored, cleaned and analyzed using statistical techniques and data visualization methods.</a:t>
            </a:r>
            <a:br>
              <a:rPr lang="en-US" sz="2400" dirty="0"/>
            </a:br>
            <a:r>
              <a:rPr lang="en-US" sz="2400" dirty="0"/>
              <a:t>The analysis compares agricultural performance across seasons, irrigation methods and crops and investigates relationships between environmental factors and agricultural outcomes.</a:t>
            </a:r>
            <a:br>
              <a:rPr lang="en-US" sz="2400" dirty="0"/>
            </a:br>
            <a:r>
              <a:rPr lang="en-US" sz="2400" dirty="0"/>
              <a:t>The main aim is to generate meaningful insights that can support evidence-based agricultural planning.</a:t>
            </a:r>
            <a:br>
              <a:rPr lang="en-US" dirty="0"/>
            </a:br>
            <a:br>
              <a:rPr lang="en-GB" dirty="0"/>
            </a:b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655102" y="1761727"/>
            <a:ext cx="8025076" cy="4082485"/>
          </a:xfrm>
        </p:spPr>
        <p:txBody>
          <a:bodyPr>
            <a:normAutofit/>
          </a:bodyPr>
          <a:lstStyle/>
          <a:p>
            <a:pPr marL="0" indent="0" algn="just">
              <a:lnSpc>
                <a:spcPct val="150000"/>
              </a:lnSpc>
              <a:buNone/>
            </a:pPr>
            <a:r>
              <a:rPr lang="en-US" sz="2800" dirty="0"/>
              <a:t>• Farmers and agricultural producers</a:t>
            </a:r>
            <a:br>
              <a:rPr lang="en-US" sz="2800" dirty="0"/>
            </a:br>
            <a:r>
              <a:rPr lang="en-US" sz="2800" dirty="0"/>
              <a:t>• Agricultural planners and consultants</a:t>
            </a:r>
            <a:br>
              <a:rPr lang="en-US" sz="2800" dirty="0"/>
            </a:br>
            <a:r>
              <a:rPr lang="en-US" sz="2800" dirty="0"/>
              <a:t>• Government and agricultural departments</a:t>
            </a:r>
            <a:br>
              <a:rPr lang="en-US" sz="2800" dirty="0"/>
            </a:br>
            <a:r>
              <a:rPr lang="en-US" sz="2800" dirty="0"/>
              <a:t>• Agricultural researchers and students</a:t>
            </a:r>
            <a:br>
              <a:rPr lang="en-US" sz="2800" dirty="0"/>
            </a:br>
            <a:r>
              <a:rPr lang="en-US" sz="2800" dirty="0"/>
              <a:t>• Organizations involved in agricultural resource management</a:t>
            </a:r>
            <a:endParaRPr lang="en-IN" sz="2500" dirty="0"/>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660399" y="1417287"/>
            <a:ext cx="9853312" cy="4854270"/>
          </a:xfrm>
        </p:spPr>
        <p:txBody>
          <a:bodyPr/>
          <a:lstStyle/>
          <a:p>
            <a:pPr lvl="1">
              <a:lnSpc>
                <a:spcPct val="150000"/>
              </a:lnSpc>
            </a:pPr>
            <a:r>
              <a:rPr lang="en-IN" dirty="0"/>
              <a:t>• </a:t>
            </a:r>
            <a:r>
              <a:rPr lang="en-IN" b="1" dirty="0"/>
              <a:t>Python</a:t>
            </a:r>
            <a:r>
              <a:rPr lang="en-IN" dirty="0"/>
              <a:t> – Data analysis and programming</a:t>
            </a:r>
            <a:br>
              <a:rPr lang="en-IN" dirty="0"/>
            </a:br>
            <a:r>
              <a:rPr lang="en-IN" dirty="0"/>
              <a:t>• </a:t>
            </a:r>
            <a:r>
              <a:rPr lang="en-IN" b="1" dirty="0"/>
              <a:t>Pandas</a:t>
            </a:r>
            <a:r>
              <a:rPr lang="en-IN" dirty="0"/>
              <a:t> – Data loading, cleaning and analysis</a:t>
            </a:r>
            <a:br>
              <a:rPr lang="en-IN" dirty="0"/>
            </a:br>
            <a:r>
              <a:rPr lang="en-IN" dirty="0"/>
              <a:t>• </a:t>
            </a:r>
            <a:r>
              <a:rPr lang="en-IN" b="1" dirty="0"/>
              <a:t>NumPy</a:t>
            </a:r>
            <a:r>
              <a:rPr lang="en-IN" dirty="0"/>
              <a:t> – Numerical operations</a:t>
            </a:r>
            <a:br>
              <a:rPr lang="en-IN" dirty="0"/>
            </a:br>
            <a:r>
              <a:rPr lang="en-IN" dirty="0"/>
              <a:t>• </a:t>
            </a:r>
            <a:r>
              <a:rPr lang="en-IN" b="1" dirty="0"/>
              <a:t>Matplotlib</a:t>
            </a:r>
            <a:r>
              <a:rPr lang="en-IN" dirty="0"/>
              <a:t> – Data visualization</a:t>
            </a:r>
            <a:br>
              <a:rPr lang="en-IN" dirty="0"/>
            </a:br>
            <a:r>
              <a:rPr lang="en-IN" dirty="0"/>
              <a:t>• </a:t>
            </a:r>
            <a:r>
              <a:rPr lang="en-IN" b="1" dirty="0"/>
              <a:t>Seaborn</a:t>
            </a:r>
            <a:r>
              <a:rPr lang="en-IN" dirty="0"/>
              <a:t> – Statistical visualizations</a:t>
            </a:r>
            <a:br>
              <a:rPr lang="en-IN" dirty="0"/>
            </a:br>
            <a:r>
              <a:rPr lang="en-IN" dirty="0"/>
              <a:t>• </a:t>
            </a:r>
            <a:r>
              <a:rPr lang="en-IN" b="1" dirty="0"/>
              <a:t>SciPy</a:t>
            </a:r>
            <a:r>
              <a:rPr lang="en-IN" dirty="0"/>
              <a:t> – Statistical analysis and ANOVA</a:t>
            </a:r>
            <a:br>
              <a:rPr lang="en-IN" dirty="0"/>
            </a:br>
            <a:r>
              <a:rPr lang="en-IN" dirty="0"/>
              <a:t>• </a:t>
            </a:r>
            <a:r>
              <a:rPr lang="en-IN" b="1" dirty="0"/>
              <a:t>Google </a:t>
            </a:r>
            <a:r>
              <a:rPr lang="en-IN" b="1" dirty="0" err="1"/>
              <a:t>Colab</a:t>
            </a:r>
            <a:r>
              <a:rPr lang="en-IN" b="1" dirty="0"/>
              <a:t> / </a:t>
            </a:r>
            <a:r>
              <a:rPr lang="en-IN" b="1" dirty="0" err="1"/>
              <a:t>Jupyter</a:t>
            </a:r>
            <a:r>
              <a:rPr lang="en-IN" b="1" dirty="0"/>
              <a:t> Notebook</a:t>
            </a:r>
            <a:r>
              <a:rPr lang="en-IN" dirty="0"/>
              <a:t> – Development and execution environment</a:t>
            </a:r>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6" y="370589"/>
            <a:ext cx="5451589" cy="1165771"/>
          </a:xfrm>
        </p:spPr>
        <p:txBody>
          <a:bodyPr>
            <a:normAutofit fontScale="90000"/>
          </a:bodyPr>
          <a:lstStyle/>
          <a:p>
            <a:r>
              <a:rPr lang="en-GB" dirty="0"/>
              <a:t>RESULTS BARCHART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19D8AC7-3787-4ADB-9212-0808F015C2DD}"/>
              </a:ext>
            </a:extLst>
          </p:cNvPr>
          <p:cNvSpPr>
            <a:spLocks noGrp="1"/>
          </p:cNvSpPr>
          <p:nvPr>
            <p:ph type="body" sz="quarter" idx="12"/>
          </p:nvPr>
        </p:nvSpPr>
        <p:spPr>
          <a:xfrm>
            <a:off x="675957" y="1536361"/>
            <a:ext cx="5096613" cy="4935560"/>
          </a:xfrm>
        </p:spPr>
        <p:txBody>
          <a:bodyPr vert="horz" lIns="91440" tIns="45720" rIns="91440" bIns="45720" rtlCol="0" anchor="t">
            <a:normAutofit fontScale="85000" lnSpcReduction="10000"/>
          </a:bodyPr>
          <a:lstStyle/>
          <a:p>
            <a:r>
              <a:rPr lang="en-US" b="1" dirty="0"/>
              <a:t>Title:</a:t>
            </a:r>
          </a:p>
          <a:p>
            <a:r>
              <a:rPr lang="en-US" b="1" dirty="0"/>
              <a:t>Average Crop Yield Across Irrigation Methods by Season</a:t>
            </a:r>
            <a:endParaRPr lang="en-US" dirty="0"/>
          </a:p>
          <a:p>
            <a:r>
              <a:rPr lang="en-US" b="1" dirty="0"/>
              <a:t>Explanation:</a:t>
            </a:r>
          </a:p>
          <a:p>
            <a:r>
              <a:rPr lang="en-US" dirty="0"/>
              <a:t>The grouped bar chart compares the average crop yield for different irrigation methods across Kharif, Rabi and Zaid seasons.</a:t>
            </a:r>
          </a:p>
          <a:p>
            <a:r>
              <a:rPr lang="en-US" dirty="0"/>
              <a:t>It helps identify how irrigation methods are associated with agricultural productivity under different seasonal conditions.</a:t>
            </a:r>
          </a:p>
          <a:p>
            <a:r>
              <a:rPr lang="en-US" dirty="0"/>
              <a:t>The analysis shows differences in average yield between irrigation methods, with </a:t>
            </a:r>
            <a:r>
              <a:rPr lang="en-US" b="1" dirty="0"/>
              <a:t>Drip irrigation showing the highest overall average yield</a:t>
            </a:r>
            <a:r>
              <a:rPr lang="en-US" dirty="0"/>
              <a:t> among the methods analyzed.</a:t>
            </a:r>
          </a:p>
          <a:p>
            <a:r>
              <a:rPr lang="en-US" dirty="0"/>
              <a:t>This visualization helps compare productivity and understand the role of irrigation practices in agricultural performance.</a:t>
            </a:r>
          </a:p>
          <a:p>
            <a:pPr marL="0" indent="0">
              <a:buNone/>
            </a:pPr>
            <a:endParaRPr lang="en-IN" dirty="0"/>
          </a:p>
        </p:txBody>
      </p:sp>
      <p:pic>
        <p:nvPicPr>
          <p:cNvPr id="12" name="Picture 11">
            <a:extLst>
              <a:ext uri="{FF2B5EF4-FFF2-40B4-BE49-F238E27FC236}">
                <a16:creationId xmlns:a16="http://schemas.microsoft.com/office/drawing/2014/main" id="{7CA86255-EEDD-411B-9F16-9199DD52AA13}"/>
              </a:ext>
            </a:extLst>
          </p:cNvPr>
          <p:cNvPicPr>
            <a:picLocks noChangeAspect="1"/>
          </p:cNvPicPr>
          <p:nvPr/>
        </p:nvPicPr>
        <p:blipFill>
          <a:blip r:embed="rId3"/>
          <a:stretch>
            <a:fillRect/>
          </a:stretch>
        </p:blipFill>
        <p:spPr>
          <a:xfrm>
            <a:off x="6419431" y="370589"/>
            <a:ext cx="5491190" cy="6248804"/>
          </a:xfrm>
          <a:prstGeom prst="rect">
            <a:avLst/>
          </a:prstGeom>
        </p:spPr>
      </p:pic>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10">
                                            <p:txEl>
                                              <p:pRg st="1" end="1"/>
                                            </p:txEl>
                                          </p:spTgt>
                                        </p:tgtEl>
                                        <p:attrNameLst>
                                          <p:attrName>style.visibility</p:attrName>
                                        </p:attrNameLst>
                                      </p:cBhvr>
                                      <p:to>
                                        <p:strVal val="visible"/>
                                      </p:to>
                                    </p:set>
                                    <p:animEffect transition="in" filter="fade">
                                      <p:cBhvr>
                                        <p:cTn id="35" dur="1000"/>
                                        <p:tgtEl>
                                          <p:spTgt spid="10">
                                            <p:txEl>
                                              <p:pRg st="1" end="1"/>
                                            </p:txEl>
                                          </p:spTgt>
                                        </p:tgtEl>
                                      </p:cBhvr>
                                    </p:animEffect>
                                    <p:anim calcmode="lin" valueType="num">
                                      <p:cBhvr>
                                        <p:cTn id="36" dur="1000" fill="hold"/>
                                        <p:tgtEl>
                                          <p:spTgt spid="10">
                                            <p:txEl>
                                              <p:pRg st="1" end="1"/>
                                            </p:txEl>
                                          </p:spTgt>
                                        </p:tgtEl>
                                        <p:attrNameLst>
                                          <p:attrName>ppt_x</p:attrName>
                                        </p:attrNameLst>
                                      </p:cBhvr>
                                      <p:tavLst>
                                        <p:tav tm="0">
                                          <p:val>
                                            <p:strVal val="#ppt_x"/>
                                          </p:val>
                                        </p:tav>
                                        <p:tav tm="100000">
                                          <p:val>
                                            <p:strVal val="#ppt_x"/>
                                          </p:val>
                                        </p:tav>
                                      </p:tavLst>
                                    </p:anim>
                                    <p:anim calcmode="lin" valueType="num">
                                      <p:cBhvr>
                                        <p:cTn id="37" dur="1000" fill="hold"/>
                                        <p:tgtEl>
                                          <p:spTgt spid="10">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0">
                                            <p:txEl>
                                              <p:pRg st="2" end="2"/>
                                            </p:txEl>
                                          </p:spTgt>
                                        </p:tgtEl>
                                        <p:attrNameLst>
                                          <p:attrName>style.visibility</p:attrName>
                                        </p:attrNameLst>
                                      </p:cBhvr>
                                      <p:to>
                                        <p:strVal val="visible"/>
                                      </p:to>
                                    </p:set>
                                    <p:animEffect transition="in" filter="fade">
                                      <p:cBhvr>
                                        <p:cTn id="42" dur="1000"/>
                                        <p:tgtEl>
                                          <p:spTgt spid="10">
                                            <p:txEl>
                                              <p:pRg st="2" end="2"/>
                                            </p:txEl>
                                          </p:spTgt>
                                        </p:tgtEl>
                                      </p:cBhvr>
                                    </p:animEffect>
                                    <p:anim calcmode="lin" valueType="num">
                                      <p:cBhvr>
                                        <p:cTn id="43" dur="1000" fill="hold"/>
                                        <p:tgtEl>
                                          <p:spTgt spid="10">
                                            <p:txEl>
                                              <p:pRg st="2" end="2"/>
                                            </p:txEl>
                                          </p:spTgt>
                                        </p:tgtEl>
                                        <p:attrNameLst>
                                          <p:attrName>ppt_x</p:attrName>
                                        </p:attrNameLst>
                                      </p:cBhvr>
                                      <p:tavLst>
                                        <p:tav tm="0">
                                          <p:val>
                                            <p:strVal val="#ppt_x"/>
                                          </p:val>
                                        </p:tav>
                                        <p:tav tm="100000">
                                          <p:val>
                                            <p:strVal val="#ppt_x"/>
                                          </p:val>
                                        </p:tav>
                                      </p:tavLst>
                                    </p:anim>
                                    <p:anim calcmode="lin" valueType="num">
                                      <p:cBhvr>
                                        <p:cTn id="44" dur="1000" fill="hold"/>
                                        <p:tgtEl>
                                          <p:spTgt spid="10">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0">
                                            <p:txEl>
                                              <p:pRg st="3" end="3"/>
                                            </p:txEl>
                                          </p:spTgt>
                                        </p:tgtEl>
                                        <p:attrNameLst>
                                          <p:attrName>style.visibility</p:attrName>
                                        </p:attrNameLst>
                                      </p:cBhvr>
                                      <p:to>
                                        <p:strVal val="visible"/>
                                      </p:to>
                                    </p:set>
                                    <p:animEffect transition="in" filter="fade">
                                      <p:cBhvr>
                                        <p:cTn id="49" dur="1000"/>
                                        <p:tgtEl>
                                          <p:spTgt spid="10">
                                            <p:txEl>
                                              <p:pRg st="3" end="3"/>
                                            </p:txEl>
                                          </p:spTgt>
                                        </p:tgtEl>
                                      </p:cBhvr>
                                    </p:animEffect>
                                    <p:anim calcmode="lin" valueType="num">
                                      <p:cBhvr>
                                        <p:cTn id="50" dur="1000" fill="hold"/>
                                        <p:tgtEl>
                                          <p:spTgt spid="10">
                                            <p:txEl>
                                              <p:pRg st="3" end="3"/>
                                            </p:txEl>
                                          </p:spTgt>
                                        </p:tgtEl>
                                        <p:attrNameLst>
                                          <p:attrName>ppt_x</p:attrName>
                                        </p:attrNameLst>
                                      </p:cBhvr>
                                      <p:tavLst>
                                        <p:tav tm="0">
                                          <p:val>
                                            <p:strVal val="#ppt_x"/>
                                          </p:val>
                                        </p:tav>
                                        <p:tav tm="100000">
                                          <p:val>
                                            <p:strVal val="#ppt_x"/>
                                          </p:val>
                                        </p:tav>
                                      </p:tavLst>
                                    </p:anim>
                                    <p:anim calcmode="lin" valueType="num">
                                      <p:cBhvr>
                                        <p:cTn id="51" dur="1000" fill="hold"/>
                                        <p:tgtEl>
                                          <p:spTgt spid="10">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10">
                                            <p:txEl>
                                              <p:pRg st="4" end="4"/>
                                            </p:txEl>
                                          </p:spTgt>
                                        </p:tgtEl>
                                        <p:attrNameLst>
                                          <p:attrName>style.visibility</p:attrName>
                                        </p:attrNameLst>
                                      </p:cBhvr>
                                      <p:to>
                                        <p:strVal val="visible"/>
                                      </p:to>
                                    </p:set>
                                    <p:animEffect transition="in" filter="fade">
                                      <p:cBhvr>
                                        <p:cTn id="56" dur="1000"/>
                                        <p:tgtEl>
                                          <p:spTgt spid="10">
                                            <p:txEl>
                                              <p:pRg st="4" end="4"/>
                                            </p:txEl>
                                          </p:spTgt>
                                        </p:tgtEl>
                                      </p:cBhvr>
                                    </p:animEffect>
                                    <p:anim calcmode="lin" valueType="num">
                                      <p:cBhvr>
                                        <p:cTn id="57" dur="1000" fill="hold"/>
                                        <p:tgtEl>
                                          <p:spTgt spid="10">
                                            <p:txEl>
                                              <p:pRg st="4" end="4"/>
                                            </p:txEl>
                                          </p:spTgt>
                                        </p:tgtEl>
                                        <p:attrNameLst>
                                          <p:attrName>ppt_x</p:attrName>
                                        </p:attrNameLst>
                                      </p:cBhvr>
                                      <p:tavLst>
                                        <p:tav tm="0">
                                          <p:val>
                                            <p:strVal val="#ppt_x"/>
                                          </p:val>
                                        </p:tav>
                                        <p:tav tm="100000">
                                          <p:val>
                                            <p:strVal val="#ppt_x"/>
                                          </p:val>
                                        </p:tav>
                                      </p:tavLst>
                                    </p:anim>
                                    <p:anim calcmode="lin" valueType="num">
                                      <p:cBhvr>
                                        <p:cTn id="58" dur="1000" fill="hold"/>
                                        <p:tgtEl>
                                          <p:spTgt spid="10">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10">
                                            <p:txEl>
                                              <p:pRg st="5" end="5"/>
                                            </p:txEl>
                                          </p:spTgt>
                                        </p:tgtEl>
                                        <p:attrNameLst>
                                          <p:attrName>style.visibility</p:attrName>
                                        </p:attrNameLst>
                                      </p:cBhvr>
                                      <p:to>
                                        <p:strVal val="visible"/>
                                      </p:to>
                                    </p:set>
                                    <p:animEffect transition="in" filter="fade">
                                      <p:cBhvr>
                                        <p:cTn id="63" dur="1000"/>
                                        <p:tgtEl>
                                          <p:spTgt spid="10">
                                            <p:txEl>
                                              <p:pRg st="5" end="5"/>
                                            </p:txEl>
                                          </p:spTgt>
                                        </p:tgtEl>
                                      </p:cBhvr>
                                    </p:animEffect>
                                    <p:anim calcmode="lin" valueType="num">
                                      <p:cBhvr>
                                        <p:cTn id="64" dur="1000" fill="hold"/>
                                        <p:tgtEl>
                                          <p:spTgt spid="10">
                                            <p:txEl>
                                              <p:pRg st="5" end="5"/>
                                            </p:txEl>
                                          </p:spTgt>
                                        </p:tgtEl>
                                        <p:attrNameLst>
                                          <p:attrName>ppt_x</p:attrName>
                                        </p:attrNameLst>
                                      </p:cBhvr>
                                      <p:tavLst>
                                        <p:tav tm="0">
                                          <p:val>
                                            <p:strVal val="#ppt_x"/>
                                          </p:val>
                                        </p:tav>
                                        <p:tav tm="100000">
                                          <p:val>
                                            <p:strVal val="#ppt_x"/>
                                          </p:val>
                                        </p:tav>
                                      </p:tavLst>
                                    </p:anim>
                                    <p:anim calcmode="lin" valueType="num">
                                      <p:cBhvr>
                                        <p:cTn id="65" dur="1000" fill="hold"/>
                                        <p:tgtEl>
                                          <p:spTgt spid="10">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42" presetClass="entr" presetSubtype="0" fill="hold" grpId="0" nodeType="clickEffect">
                                  <p:stCondLst>
                                    <p:cond delay="0"/>
                                  </p:stCondLst>
                                  <p:childTnLst>
                                    <p:set>
                                      <p:cBhvr>
                                        <p:cTn id="69" dur="1" fill="hold">
                                          <p:stCondLst>
                                            <p:cond delay="0"/>
                                          </p:stCondLst>
                                        </p:cTn>
                                        <p:tgtEl>
                                          <p:spTgt spid="10">
                                            <p:txEl>
                                              <p:pRg st="6" end="6"/>
                                            </p:txEl>
                                          </p:spTgt>
                                        </p:tgtEl>
                                        <p:attrNameLst>
                                          <p:attrName>style.visibility</p:attrName>
                                        </p:attrNameLst>
                                      </p:cBhvr>
                                      <p:to>
                                        <p:strVal val="visible"/>
                                      </p:to>
                                    </p:set>
                                    <p:animEffect transition="in" filter="fade">
                                      <p:cBhvr>
                                        <p:cTn id="70" dur="1000"/>
                                        <p:tgtEl>
                                          <p:spTgt spid="10">
                                            <p:txEl>
                                              <p:pRg st="6" end="6"/>
                                            </p:txEl>
                                          </p:spTgt>
                                        </p:tgtEl>
                                      </p:cBhvr>
                                    </p:animEffect>
                                    <p:anim calcmode="lin" valueType="num">
                                      <p:cBhvr>
                                        <p:cTn id="71" dur="1000" fill="hold"/>
                                        <p:tgtEl>
                                          <p:spTgt spid="10">
                                            <p:txEl>
                                              <p:pRg st="6" end="6"/>
                                            </p:txEl>
                                          </p:spTgt>
                                        </p:tgtEl>
                                        <p:attrNameLst>
                                          <p:attrName>ppt_x</p:attrName>
                                        </p:attrNameLst>
                                      </p:cBhvr>
                                      <p:tavLst>
                                        <p:tav tm="0">
                                          <p:val>
                                            <p:strVal val="#ppt_x"/>
                                          </p:val>
                                        </p:tav>
                                        <p:tav tm="100000">
                                          <p:val>
                                            <p:strVal val="#ppt_x"/>
                                          </p:val>
                                        </p:tav>
                                      </p:tavLst>
                                    </p:anim>
                                    <p:anim calcmode="lin" valueType="num">
                                      <p:cBhvr>
                                        <p:cTn id="72" dur="1000" fill="hold"/>
                                        <p:tgtEl>
                                          <p:spTgt spid="10">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5637757" cy="830997"/>
          </a:xfrm>
        </p:spPr>
        <p:txBody>
          <a:bodyPr>
            <a:normAutofit fontScale="90000"/>
          </a:bodyPr>
          <a:lstStyle/>
          <a:p>
            <a:r>
              <a:rPr lang="en-GB" dirty="0"/>
              <a:t>RESULTS HISTOGRAM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3A64DB11-806F-1A4C-E0D5-D745D29CED50}"/>
              </a:ext>
            </a:extLst>
          </p:cNvPr>
          <p:cNvSpPr>
            <a:spLocks noGrp="1"/>
          </p:cNvSpPr>
          <p:nvPr>
            <p:ph type="body" sz="quarter" idx="12"/>
          </p:nvPr>
        </p:nvSpPr>
        <p:spPr>
          <a:xfrm>
            <a:off x="807164" y="1431693"/>
            <a:ext cx="4785254" cy="4623667"/>
          </a:xfrm>
        </p:spPr>
        <p:txBody>
          <a:bodyPr>
            <a:normAutofit fontScale="85000" lnSpcReduction="20000"/>
          </a:bodyPr>
          <a:lstStyle/>
          <a:p>
            <a:r>
              <a:rPr lang="en-US" b="1" dirty="0"/>
              <a:t>Title:</a:t>
            </a:r>
          </a:p>
          <a:p>
            <a:r>
              <a:rPr lang="en-US" b="1" dirty="0"/>
              <a:t>Distribution of Rainfall</a:t>
            </a:r>
            <a:endParaRPr lang="en-US" dirty="0"/>
          </a:p>
          <a:p>
            <a:r>
              <a:rPr lang="en-US" b="1" dirty="0"/>
              <a:t>Explanation:</a:t>
            </a:r>
          </a:p>
          <a:p>
            <a:r>
              <a:rPr lang="en-US" dirty="0"/>
              <a:t>The histogram shows how rainfall values are distributed across the agricultural dataset.</a:t>
            </a:r>
          </a:p>
          <a:p>
            <a:r>
              <a:rPr lang="en-US" dirty="0"/>
              <a:t>It helps understand the range and frequency of different rainfall levels recorded in the farms.</a:t>
            </a:r>
          </a:p>
          <a:p>
            <a:r>
              <a:rPr lang="en-US" dirty="0"/>
              <a:t>The dataset contains rainfall values ranging from approximately </a:t>
            </a:r>
            <a:r>
              <a:rPr lang="en-US" b="1" dirty="0"/>
              <a:t>80 mm to 1395 mm</a:t>
            </a:r>
            <a:r>
              <a:rPr lang="en-US" dirty="0"/>
              <a:t>, showing considerable variation in rainfall conditions.</a:t>
            </a:r>
          </a:p>
          <a:p>
            <a:r>
              <a:rPr lang="en-US" dirty="0"/>
              <a:t>This visualization is useful for understanding the environmental conditions represented in the dataset and identifying the overall distribution of rainfall.</a:t>
            </a:r>
          </a:p>
          <a:p>
            <a:pPr marL="0" indent="0">
              <a:buNone/>
            </a:pPr>
            <a:endParaRPr lang="en-IN" dirty="0"/>
          </a:p>
        </p:txBody>
      </p:sp>
      <p:pic>
        <p:nvPicPr>
          <p:cNvPr id="3" name="Picture 2">
            <a:extLst>
              <a:ext uri="{FF2B5EF4-FFF2-40B4-BE49-F238E27FC236}">
                <a16:creationId xmlns:a16="http://schemas.microsoft.com/office/drawing/2014/main" id="{C4A74706-F06D-4AC9-B8C4-9FE5C7A26B7E}"/>
              </a:ext>
            </a:extLst>
          </p:cNvPr>
          <p:cNvPicPr>
            <a:picLocks noChangeAspect="1"/>
          </p:cNvPicPr>
          <p:nvPr/>
        </p:nvPicPr>
        <p:blipFill>
          <a:blip r:embed="rId3"/>
          <a:stretch>
            <a:fillRect/>
          </a:stretch>
        </p:blipFill>
        <p:spPr>
          <a:xfrm>
            <a:off x="6599583" y="482653"/>
            <a:ext cx="5271435" cy="6182307"/>
          </a:xfrm>
          <a:prstGeom prst="rect">
            <a:avLst/>
          </a:prstGeom>
        </p:spPr>
      </p:pic>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10">
                                            <p:txEl>
                                              <p:pRg st="1" end="1"/>
                                            </p:txEl>
                                          </p:spTgt>
                                        </p:tgtEl>
                                        <p:attrNameLst>
                                          <p:attrName>style.visibility</p:attrName>
                                        </p:attrNameLst>
                                      </p:cBhvr>
                                      <p:to>
                                        <p:strVal val="visible"/>
                                      </p:to>
                                    </p:set>
                                    <p:animEffect transition="in" filter="fade">
                                      <p:cBhvr>
                                        <p:cTn id="35" dur="1000"/>
                                        <p:tgtEl>
                                          <p:spTgt spid="10">
                                            <p:txEl>
                                              <p:pRg st="1" end="1"/>
                                            </p:txEl>
                                          </p:spTgt>
                                        </p:tgtEl>
                                      </p:cBhvr>
                                    </p:animEffect>
                                    <p:anim calcmode="lin" valueType="num">
                                      <p:cBhvr>
                                        <p:cTn id="36" dur="1000" fill="hold"/>
                                        <p:tgtEl>
                                          <p:spTgt spid="10">
                                            <p:txEl>
                                              <p:pRg st="1" end="1"/>
                                            </p:txEl>
                                          </p:spTgt>
                                        </p:tgtEl>
                                        <p:attrNameLst>
                                          <p:attrName>ppt_x</p:attrName>
                                        </p:attrNameLst>
                                      </p:cBhvr>
                                      <p:tavLst>
                                        <p:tav tm="0">
                                          <p:val>
                                            <p:strVal val="#ppt_x"/>
                                          </p:val>
                                        </p:tav>
                                        <p:tav tm="100000">
                                          <p:val>
                                            <p:strVal val="#ppt_x"/>
                                          </p:val>
                                        </p:tav>
                                      </p:tavLst>
                                    </p:anim>
                                    <p:anim calcmode="lin" valueType="num">
                                      <p:cBhvr>
                                        <p:cTn id="37" dur="1000" fill="hold"/>
                                        <p:tgtEl>
                                          <p:spTgt spid="10">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0">
                                            <p:txEl>
                                              <p:pRg st="2" end="2"/>
                                            </p:txEl>
                                          </p:spTgt>
                                        </p:tgtEl>
                                        <p:attrNameLst>
                                          <p:attrName>style.visibility</p:attrName>
                                        </p:attrNameLst>
                                      </p:cBhvr>
                                      <p:to>
                                        <p:strVal val="visible"/>
                                      </p:to>
                                    </p:set>
                                    <p:animEffect transition="in" filter="fade">
                                      <p:cBhvr>
                                        <p:cTn id="42" dur="1000"/>
                                        <p:tgtEl>
                                          <p:spTgt spid="10">
                                            <p:txEl>
                                              <p:pRg st="2" end="2"/>
                                            </p:txEl>
                                          </p:spTgt>
                                        </p:tgtEl>
                                      </p:cBhvr>
                                    </p:animEffect>
                                    <p:anim calcmode="lin" valueType="num">
                                      <p:cBhvr>
                                        <p:cTn id="43" dur="1000" fill="hold"/>
                                        <p:tgtEl>
                                          <p:spTgt spid="10">
                                            <p:txEl>
                                              <p:pRg st="2" end="2"/>
                                            </p:txEl>
                                          </p:spTgt>
                                        </p:tgtEl>
                                        <p:attrNameLst>
                                          <p:attrName>ppt_x</p:attrName>
                                        </p:attrNameLst>
                                      </p:cBhvr>
                                      <p:tavLst>
                                        <p:tav tm="0">
                                          <p:val>
                                            <p:strVal val="#ppt_x"/>
                                          </p:val>
                                        </p:tav>
                                        <p:tav tm="100000">
                                          <p:val>
                                            <p:strVal val="#ppt_x"/>
                                          </p:val>
                                        </p:tav>
                                      </p:tavLst>
                                    </p:anim>
                                    <p:anim calcmode="lin" valueType="num">
                                      <p:cBhvr>
                                        <p:cTn id="44" dur="1000" fill="hold"/>
                                        <p:tgtEl>
                                          <p:spTgt spid="10">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0">
                                            <p:txEl>
                                              <p:pRg st="3" end="3"/>
                                            </p:txEl>
                                          </p:spTgt>
                                        </p:tgtEl>
                                        <p:attrNameLst>
                                          <p:attrName>style.visibility</p:attrName>
                                        </p:attrNameLst>
                                      </p:cBhvr>
                                      <p:to>
                                        <p:strVal val="visible"/>
                                      </p:to>
                                    </p:set>
                                    <p:animEffect transition="in" filter="fade">
                                      <p:cBhvr>
                                        <p:cTn id="49" dur="1000"/>
                                        <p:tgtEl>
                                          <p:spTgt spid="10">
                                            <p:txEl>
                                              <p:pRg st="3" end="3"/>
                                            </p:txEl>
                                          </p:spTgt>
                                        </p:tgtEl>
                                      </p:cBhvr>
                                    </p:animEffect>
                                    <p:anim calcmode="lin" valueType="num">
                                      <p:cBhvr>
                                        <p:cTn id="50" dur="1000" fill="hold"/>
                                        <p:tgtEl>
                                          <p:spTgt spid="10">
                                            <p:txEl>
                                              <p:pRg st="3" end="3"/>
                                            </p:txEl>
                                          </p:spTgt>
                                        </p:tgtEl>
                                        <p:attrNameLst>
                                          <p:attrName>ppt_x</p:attrName>
                                        </p:attrNameLst>
                                      </p:cBhvr>
                                      <p:tavLst>
                                        <p:tav tm="0">
                                          <p:val>
                                            <p:strVal val="#ppt_x"/>
                                          </p:val>
                                        </p:tav>
                                        <p:tav tm="100000">
                                          <p:val>
                                            <p:strVal val="#ppt_x"/>
                                          </p:val>
                                        </p:tav>
                                      </p:tavLst>
                                    </p:anim>
                                    <p:anim calcmode="lin" valueType="num">
                                      <p:cBhvr>
                                        <p:cTn id="51" dur="1000" fill="hold"/>
                                        <p:tgtEl>
                                          <p:spTgt spid="10">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10">
                                            <p:txEl>
                                              <p:pRg st="4" end="4"/>
                                            </p:txEl>
                                          </p:spTgt>
                                        </p:tgtEl>
                                        <p:attrNameLst>
                                          <p:attrName>style.visibility</p:attrName>
                                        </p:attrNameLst>
                                      </p:cBhvr>
                                      <p:to>
                                        <p:strVal val="visible"/>
                                      </p:to>
                                    </p:set>
                                    <p:animEffect transition="in" filter="fade">
                                      <p:cBhvr>
                                        <p:cTn id="56" dur="1000"/>
                                        <p:tgtEl>
                                          <p:spTgt spid="10">
                                            <p:txEl>
                                              <p:pRg st="4" end="4"/>
                                            </p:txEl>
                                          </p:spTgt>
                                        </p:tgtEl>
                                      </p:cBhvr>
                                    </p:animEffect>
                                    <p:anim calcmode="lin" valueType="num">
                                      <p:cBhvr>
                                        <p:cTn id="57" dur="1000" fill="hold"/>
                                        <p:tgtEl>
                                          <p:spTgt spid="10">
                                            <p:txEl>
                                              <p:pRg st="4" end="4"/>
                                            </p:txEl>
                                          </p:spTgt>
                                        </p:tgtEl>
                                        <p:attrNameLst>
                                          <p:attrName>ppt_x</p:attrName>
                                        </p:attrNameLst>
                                      </p:cBhvr>
                                      <p:tavLst>
                                        <p:tav tm="0">
                                          <p:val>
                                            <p:strVal val="#ppt_x"/>
                                          </p:val>
                                        </p:tav>
                                        <p:tav tm="100000">
                                          <p:val>
                                            <p:strVal val="#ppt_x"/>
                                          </p:val>
                                        </p:tav>
                                      </p:tavLst>
                                    </p:anim>
                                    <p:anim calcmode="lin" valueType="num">
                                      <p:cBhvr>
                                        <p:cTn id="58" dur="1000" fill="hold"/>
                                        <p:tgtEl>
                                          <p:spTgt spid="10">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10">
                                            <p:txEl>
                                              <p:pRg st="5" end="5"/>
                                            </p:txEl>
                                          </p:spTgt>
                                        </p:tgtEl>
                                        <p:attrNameLst>
                                          <p:attrName>style.visibility</p:attrName>
                                        </p:attrNameLst>
                                      </p:cBhvr>
                                      <p:to>
                                        <p:strVal val="visible"/>
                                      </p:to>
                                    </p:set>
                                    <p:animEffect transition="in" filter="fade">
                                      <p:cBhvr>
                                        <p:cTn id="63" dur="1000"/>
                                        <p:tgtEl>
                                          <p:spTgt spid="10">
                                            <p:txEl>
                                              <p:pRg st="5" end="5"/>
                                            </p:txEl>
                                          </p:spTgt>
                                        </p:tgtEl>
                                      </p:cBhvr>
                                    </p:animEffect>
                                    <p:anim calcmode="lin" valueType="num">
                                      <p:cBhvr>
                                        <p:cTn id="64" dur="1000" fill="hold"/>
                                        <p:tgtEl>
                                          <p:spTgt spid="10">
                                            <p:txEl>
                                              <p:pRg st="5" end="5"/>
                                            </p:txEl>
                                          </p:spTgt>
                                        </p:tgtEl>
                                        <p:attrNameLst>
                                          <p:attrName>ppt_x</p:attrName>
                                        </p:attrNameLst>
                                      </p:cBhvr>
                                      <p:tavLst>
                                        <p:tav tm="0">
                                          <p:val>
                                            <p:strVal val="#ppt_x"/>
                                          </p:val>
                                        </p:tav>
                                        <p:tav tm="100000">
                                          <p:val>
                                            <p:strVal val="#ppt_x"/>
                                          </p:val>
                                        </p:tav>
                                      </p:tavLst>
                                    </p:anim>
                                    <p:anim calcmode="lin" valueType="num">
                                      <p:cBhvr>
                                        <p:cTn id="65" dur="1000" fill="hold"/>
                                        <p:tgtEl>
                                          <p:spTgt spid="10">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42" presetClass="entr" presetSubtype="0" fill="hold" grpId="0" nodeType="clickEffect">
                                  <p:stCondLst>
                                    <p:cond delay="0"/>
                                  </p:stCondLst>
                                  <p:childTnLst>
                                    <p:set>
                                      <p:cBhvr>
                                        <p:cTn id="69" dur="1" fill="hold">
                                          <p:stCondLst>
                                            <p:cond delay="0"/>
                                          </p:stCondLst>
                                        </p:cTn>
                                        <p:tgtEl>
                                          <p:spTgt spid="10">
                                            <p:txEl>
                                              <p:pRg st="6" end="6"/>
                                            </p:txEl>
                                          </p:spTgt>
                                        </p:tgtEl>
                                        <p:attrNameLst>
                                          <p:attrName>style.visibility</p:attrName>
                                        </p:attrNameLst>
                                      </p:cBhvr>
                                      <p:to>
                                        <p:strVal val="visible"/>
                                      </p:to>
                                    </p:set>
                                    <p:animEffect transition="in" filter="fade">
                                      <p:cBhvr>
                                        <p:cTn id="70" dur="1000"/>
                                        <p:tgtEl>
                                          <p:spTgt spid="10">
                                            <p:txEl>
                                              <p:pRg st="6" end="6"/>
                                            </p:txEl>
                                          </p:spTgt>
                                        </p:tgtEl>
                                      </p:cBhvr>
                                    </p:animEffect>
                                    <p:anim calcmode="lin" valueType="num">
                                      <p:cBhvr>
                                        <p:cTn id="71" dur="1000" fill="hold"/>
                                        <p:tgtEl>
                                          <p:spTgt spid="10">
                                            <p:txEl>
                                              <p:pRg st="6" end="6"/>
                                            </p:txEl>
                                          </p:spTgt>
                                        </p:tgtEl>
                                        <p:attrNameLst>
                                          <p:attrName>ppt_x</p:attrName>
                                        </p:attrNameLst>
                                      </p:cBhvr>
                                      <p:tavLst>
                                        <p:tav tm="0">
                                          <p:val>
                                            <p:strVal val="#ppt_x"/>
                                          </p:val>
                                        </p:tav>
                                        <p:tav tm="100000">
                                          <p:val>
                                            <p:strVal val="#ppt_x"/>
                                          </p:val>
                                        </p:tav>
                                      </p:tavLst>
                                    </p:anim>
                                    <p:anim calcmode="lin" valueType="num">
                                      <p:cBhvr>
                                        <p:cTn id="72" dur="1000" fill="hold"/>
                                        <p:tgtEl>
                                          <p:spTgt spid="10">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780172" y="522535"/>
            <a:ext cx="5270146" cy="830997"/>
          </a:xfrm>
        </p:spPr>
        <p:txBody>
          <a:bodyPr>
            <a:normAutofit fontScale="90000"/>
          </a:bodyPr>
          <a:lstStyle/>
          <a:p>
            <a:r>
              <a:rPr lang="en-GB" dirty="0"/>
              <a:t>RESULTS BOX PLOT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6E3B1C7-6A8B-23EE-6251-DC1067C6ADE9}"/>
              </a:ext>
            </a:extLst>
          </p:cNvPr>
          <p:cNvSpPr>
            <a:spLocks noGrp="1"/>
          </p:cNvSpPr>
          <p:nvPr>
            <p:ph type="body" sz="quarter" idx="12"/>
          </p:nvPr>
        </p:nvSpPr>
        <p:spPr>
          <a:xfrm>
            <a:off x="807162" y="1431693"/>
            <a:ext cx="5443780" cy="4796829"/>
          </a:xfrm>
        </p:spPr>
        <p:txBody>
          <a:bodyPr>
            <a:normAutofit fontScale="92500" lnSpcReduction="20000"/>
          </a:bodyPr>
          <a:lstStyle/>
          <a:p>
            <a:r>
              <a:rPr lang="en-US" b="1" dirty="0"/>
              <a:t>Title:</a:t>
            </a:r>
          </a:p>
          <a:p>
            <a:r>
              <a:rPr lang="en-US" b="1" dirty="0"/>
              <a:t>Profit Distribution Across Major Crops</a:t>
            </a:r>
            <a:endParaRPr lang="en-US" dirty="0"/>
          </a:p>
          <a:p>
            <a:r>
              <a:rPr lang="en-US" b="1" dirty="0"/>
              <a:t>Explanation:</a:t>
            </a:r>
          </a:p>
          <a:p>
            <a:r>
              <a:rPr lang="en-US" dirty="0"/>
              <a:t>The box plot compares the distribution of agricultural profit across different crops.</a:t>
            </a:r>
          </a:p>
          <a:p>
            <a:r>
              <a:rPr lang="en-US" dirty="0"/>
              <a:t>It helps identify the </a:t>
            </a:r>
            <a:r>
              <a:rPr lang="en-US" b="1" dirty="0"/>
              <a:t>median, spread and variation</a:t>
            </a:r>
            <a:r>
              <a:rPr lang="en-US" dirty="0"/>
              <a:t> of profit values and highlights differences between crops.</a:t>
            </a:r>
          </a:p>
          <a:p>
            <a:r>
              <a:rPr lang="en-US" dirty="0"/>
              <a:t>The crop-wise analysis shows substantial differences in profitability. </a:t>
            </a:r>
            <a:r>
              <a:rPr lang="en-US" b="1" dirty="0"/>
              <a:t>Sugarcane and </a:t>
            </a:r>
            <a:r>
              <a:rPr lang="en-US" b="1" dirty="0" err="1"/>
              <a:t>Chilli</a:t>
            </a:r>
            <a:r>
              <a:rPr lang="en-US" b="1" dirty="0"/>
              <a:t> show strong average profitability</a:t>
            </a:r>
            <a:r>
              <a:rPr lang="en-US" dirty="0"/>
              <a:t>, while Wheat, Rice and Maize have negative average profit values in the dataset.</a:t>
            </a:r>
          </a:p>
          <a:p>
            <a:r>
              <a:rPr lang="en-US" dirty="0"/>
              <a:t>The visualization demonstrates that agricultural profitability can vary considerably between crops.</a:t>
            </a:r>
          </a:p>
          <a:p>
            <a:pPr marL="0" indent="0">
              <a:buNone/>
            </a:pPr>
            <a:endParaRPr lang="en-IN" dirty="0"/>
          </a:p>
        </p:txBody>
      </p:sp>
      <p:pic>
        <p:nvPicPr>
          <p:cNvPr id="3" name="Picture 2">
            <a:extLst>
              <a:ext uri="{FF2B5EF4-FFF2-40B4-BE49-F238E27FC236}">
                <a16:creationId xmlns:a16="http://schemas.microsoft.com/office/drawing/2014/main" id="{5CF9858E-8DD7-420E-997C-A8753F18E1C3}"/>
              </a:ext>
            </a:extLst>
          </p:cNvPr>
          <p:cNvPicPr>
            <a:picLocks noChangeAspect="1"/>
          </p:cNvPicPr>
          <p:nvPr/>
        </p:nvPicPr>
        <p:blipFill>
          <a:blip r:embed="rId3"/>
          <a:stretch>
            <a:fillRect/>
          </a:stretch>
        </p:blipFill>
        <p:spPr>
          <a:xfrm>
            <a:off x="6932093" y="676620"/>
            <a:ext cx="4849685" cy="5795299"/>
          </a:xfrm>
          <a:prstGeom prst="rect">
            <a:avLst/>
          </a:prstGeom>
        </p:spPr>
      </p:pic>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10">
                                            <p:txEl>
                                              <p:pRg st="1" end="1"/>
                                            </p:txEl>
                                          </p:spTgt>
                                        </p:tgtEl>
                                        <p:attrNameLst>
                                          <p:attrName>style.visibility</p:attrName>
                                        </p:attrNameLst>
                                      </p:cBhvr>
                                      <p:to>
                                        <p:strVal val="visible"/>
                                      </p:to>
                                    </p:set>
                                    <p:animEffect transition="in" filter="fade">
                                      <p:cBhvr>
                                        <p:cTn id="35" dur="1000"/>
                                        <p:tgtEl>
                                          <p:spTgt spid="10">
                                            <p:txEl>
                                              <p:pRg st="1" end="1"/>
                                            </p:txEl>
                                          </p:spTgt>
                                        </p:tgtEl>
                                      </p:cBhvr>
                                    </p:animEffect>
                                    <p:anim calcmode="lin" valueType="num">
                                      <p:cBhvr>
                                        <p:cTn id="36" dur="1000" fill="hold"/>
                                        <p:tgtEl>
                                          <p:spTgt spid="10">
                                            <p:txEl>
                                              <p:pRg st="1" end="1"/>
                                            </p:txEl>
                                          </p:spTgt>
                                        </p:tgtEl>
                                        <p:attrNameLst>
                                          <p:attrName>ppt_x</p:attrName>
                                        </p:attrNameLst>
                                      </p:cBhvr>
                                      <p:tavLst>
                                        <p:tav tm="0">
                                          <p:val>
                                            <p:strVal val="#ppt_x"/>
                                          </p:val>
                                        </p:tav>
                                        <p:tav tm="100000">
                                          <p:val>
                                            <p:strVal val="#ppt_x"/>
                                          </p:val>
                                        </p:tav>
                                      </p:tavLst>
                                    </p:anim>
                                    <p:anim calcmode="lin" valueType="num">
                                      <p:cBhvr>
                                        <p:cTn id="37" dur="1000" fill="hold"/>
                                        <p:tgtEl>
                                          <p:spTgt spid="10">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0">
                                            <p:txEl>
                                              <p:pRg st="2" end="2"/>
                                            </p:txEl>
                                          </p:spTgt>
                                        </p:tgtEl>
                                        <p:attrNameLst>
                                          <p:attrName>style.visibility</p:attrName>
                                        </p:attrNameLst>
                                      </p:cBhvr>
                                      <p:to>
                                        <p:strVal val="visible"/>
                                      </p:to>
                                    </p:set>
                                    <p:animEffect transition="in" filter="fade">
                                      <p:cBhvr>
                                        <p:cTn id="42" dur="1000"/>
                                        <p:tgtEl>
                                          <p:spTgt spid="10">
                                            <p:txEl>
                                              <p:pRg st="2" end="2"/>
                                            </p:txEl>
                                          </p:spTgt>
                                        </p:tgtEl>
                                      </p:cBhvr>
                                    </p:animEffect>
                                    <p:anim calcmode="lin" valueType="num">
                                      <p:cBhvr>
                                        <p:cTn id="43" dur="1000" fill="hold"/>
                                        <p:tgtEl>
                                          <p:spTgt spid="10">
                                            <p:txEl>
                                              <p:pRg st="2" end="2"/>
                                            </p:txEl>
                                          </p:spTgt>
                                        </p:tgtEl>
                                        <p:attrNameLst>
                                          <p:attrName>ppt_x</p:attrName>
                                        </p:attrNameLst>
                                      </p:cBhvr>
                                      <p:tavLst>
                                        <p:tav tm="0">
                                          <p:val>
                                            <p:strVal val="#ppt_x"/>
                                          </p:val>
                                        </p:tav>
                                        <p:tav tm="100000">
                                          <p:val>
                                            <p:strVal val="#ppt_x"/>
                                          </p:val>
                                        </p:tav>
                                      </p:tavLst>
                                    </p:anim>
                                    <p:anim calcmode="lin" valueType="num">
                                      <p:cBhvr>
                                        <p:cTn id="44" dur="1000" fill="hold"/>
                                        <p:tgtEl>
                                          <p:spTgt spid="10">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0">
                                            <p:txEl>
                                              <p:pRg st="3" end="3"/>
                                            </p:txEl>
                                          </p:spTgt>
                                        </p:tgtEl>
                                        <p:attrNameLst>
                                          <p:attrName>style.visibility</p:attrName>
                                        </p:attrNameLst>
                                      </p:cBhvr>
                                      <p:to>
                                        <p:strVal val="visible"/>
                                      </p:to>
                                    </p:set>
                                    <p:animEffect transition="in" filter="fade">
                                      <p:cBhvr>
                                        <p:cTn id="49" dur="1000"/>
                                        <p:tgtEl>
                                          <p:spTgt spid="10">
                                            <p:txEl>
                                              <p:pRg st="3" end="3"/>
                                            </p:txEl>
                                          </p:spTgt>
                                        </p:tgtEl>
                                      </p:cBhvr>
                                    </p:animEffect>
                                    <p:anim calcmode="lin" valueType="num">
                                      <p:cBhvr>
                                        <p:cTn id="50" dur="1000" fill="hold"/>
                                        <p:tgtEl>
                                          <p:spTgt spid="10">
                                            <p:txEl>
                                              <p:pRg st="3" end="3"/>
                                            </p:txEl>
                                          </p:spTgt>
                                        </p:tgtEl>
                                        <p:attrNameLst>
                                          <p:attrName>ppt_x</p:attrName>
                                        </p:attrNameLst>
                                      </p:cBhvr>
                                      <p:tavLst>
                                        <p:tav tm="0">
                                          <p:val>
                                            <p:strVal val="#ppt_x"/>
                                          </p:val>
                                        </p:tav>
                                        <p:tav tm="100000">
                                          <p:val>
                                            <p:strVal val="#ppt_x"/>
                                          </p:val>
                                        </p:tav>
                                      </p:tavLst>
                                    </p:anim>
                                    <p:anim calcmode="lin" valueType="num">
                                      <p:cBhvr>
                                        <p:cTn id="51" dur="1000" fill="hold"/>
                                        <p:tgtEl>
                                          <p:spTgt spid="10">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10">
                                            <p:txEl>
                                              <p:pRg st="4" end="4"/>
                                            </p:txEl>
                                          </p:spTgt>
                                        </p:tgtEl>
                                        <p:attrNameLst>
                                          <p:attrName>style.visibility</p:attrName>
                                        </p:attrNameLst>
                                      </p:cBhvr>
                                      <p:to>
                                        <p:strVal val="visible"/>
                                      </p:to>
                                    </p:set>
                                    <p:animEffect transition="in" filter="fade">
                                      <p:cBhvr>
                                        <p:cTn id="56" dur="1000"/>
                                        <p:tgtEl>
                                          <p:spTgt spid="10">
                                            <p:txEl>
                                              <p:pRg st="4" end="4"/>
                                            </p:txEl>
                                          </p:spTgt>
                                        </p:tgtEl>
                                      </p:cBhvr>
                                    </p:animEffect>
                                    <p:anim calcmode="lin" valueType="num">
                                      <p:cBhvr>
                                        <p:cTn id="57" dur="1000" fill="hold"/>
                                        <p:tgtEl>
                                          <p:spTgt spid="10">
                                            <p:txEl>
                                              <p:pRg st="4" end="4"/>
                                            </p:txEl>
                                          </p:spTgt>
                                        </p:tgtEl>
                                        <p:attrNameLst>
                                          <p:attrName>ppt_x</p:attrName>
                                        </p:attrNameLst>
                                      </p:cBhvr>
                                      <p:tavLst>
                                        <p:tav tm="0">
                                          <p:val>
                                            <p:strVal val="#ppt_x"/>
                                          </p:val>
                                        </p:tav>
                                        <p:tav tm="100000">
                                          <p:val>
                                            <p:strVal val="#ppt_x"/>
                                          </p:val>
                                        </p:tav>
                                      </p:tavLst>
                                    </p:anim>
                                    <p:anim calcmode="lin" valueType="num">
                                      <p:cBhvr>
                                        <p:cTn id="58" dur="1000" fill="hold"/>
                                        <p:tgtEl>
                                          <p:spTgt spid="10">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10">
                                            <p:txEl>
                                              <p:pRg st="5" end="5"/>
                                            </p:txEl>
                                          </p:spTgt>
                                        </p:tgtEl>
                                        <p:attrNameLst>
                                          <p:attrName>style.visibility</p:attrName>
                                        </p:attrNameLst>
                                      </p:cBhvr>
                                      <p:to>
                                        <p:strVal val="visible"/>
                                      </p:to>
                                    </p:set>
                                    <p:animEffect transition="in" filter="fade">
                                      <p:cBhvr>
                                        <p:cTn id="63" dur="1000"/>
                                        <p:tgtEl>
                                          <p:spTgt spid="10">
                                            <p:txEl>
                                              <p:pRg st="5" end="5"/>
                                            </p:txEl>
                                          </p:spTgt>
                                        </p:tgtEl>
                                      </p:cBhvr>
                                    </p:animEffect>
                                    <p:anim calcmode="lin" valueType="num">
                                      <p:cBhvr>
                                        <p:cTn id="64" dur="1000" fill="hold"/>
                                        <p:tgtEl>
                                          <p:spTgt spid="10">
                                            <p:txEl>
                                              <p:pRg st="5" end="5"/>
                                            </p:txEl>
                                          </p:spTgt>
                                        </p:tgtEl>
                                        <p:attrNameLst>
                                          <p:attrName>ppt_x</p:attrName>
                                        </p:attrNameLst>
                                      </p:cBhvr>
                                      <p:tavLst>
                                        <p:tav tm="0">
                                          <p:val>
                                            <p:strVal val="#ppt_x"/>
                                          </p:val>
                                        </p:tav>
                                        <p:tav tm="100000">
                                          <p:val>
                                            <p:strVal val="#ppt_x"/>
                                          </p:val>
                                        </p:tav>
                                      </p:tavLst>
                                    </p:anim>
                                    <p:anim calcmode="lin" valueType="num">
                                      <p:cBhvr>
                                        <p:cTn id="65" dur="1000" fill="hold"/>
                                        <p:tgtEl>
                                          <p:spTgt spid="10">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42" presetClass="entr" presetSubtype="0" fill="hold" grpId="0" nodeType="clickEffect">
                                  <p:stCondLst>
                                    <p:cond delay="0"/>
                                  </p:stCondLst>
                                  <p:childTnLst>
                                    <p:set>
                                      <p:cBhvr>
                                        <p:cTn id="69" dur="1" fill="hold">
                                          <p:stCondLst>
                                            <p:cond delay="0"/>
                                          </p:stCondLst>
                                        </p:cTn>
                                        <p:tgtEl>
                                          <p:spTgt spid="10">
                                            <p:txEl>
                                              <p:pRg st="6" end="6"/>
                                            </p:txEl>
                                          </p:spTgt>
                                        </p:tgtEl>
                                        <p:attrNameLst>
                                          <p:attrName>style.visibility</p:attrName>
                                        </p:attrNameLst>
                                      </p:cBhvr>
                                      <p:to>
                                        <p:strVal val="visible"/>
                                      </p:to>
                                    </p:set>
                                    <p:animEffect transition="in" filter="fade">
                                      <p:cBhvr>
                                        <p:cTn id="70" dur="1000"/>
                                        <p:tgtEl>
                                          <p:spTgt spid="10">
                                            <p:txEl>
                                              <p:pRg st="6" end="6"/>
                                            </p:txEl>
                                          </p:spTgt>
                                        </p:tgtEl>
                                      </p:cBhvr>
                                    </p:animEffect>
                                    <p:anim calcmode="lin" valueType="num">
                                      <p:cBhvr>
                                        <p:cTn id="71" dur="1000" fill="hold"/>
                                        <p:tgtEl>
                                          <p:spTgt spid="10">
                                            <p:txEl>
                                              <p:pRg st="6" end="6"/>
                                            </p:txEl>
                                          </p:spTgt>
                                        </p:tgtEl>
                                        <p:attrNameLst>
                                          <p:attrName>ppt_x</p:attrName>
                                        </p:attrNameLst>
                                      </p:cBhvr>
                                      <p:tavLst>
                                        <p:tav tm="0">
                                          <p:val>
                                            <p:strVal val="#ppt_x"/>
                                          </p:val>
                                        </p:tav>
                                        <p:tav tm="100000">
                                          <p:val>
                                            <p:strVal val="#ppt_x"/>
                                          </p:val>
                                        </p:tav>
                                      </p:tavLst>
                                    </p:anim>
                                    <p:anim calcmode="lin" valueType="num">
                                      <p:cBhvr>
                                        <p:cTn id="72" dur="1000" fill="hold"/>
                                        <p:tgtEl>
                                          <p:spTgt spid="10">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566528"/>
            <a:ext cx="6331509" cy="1392897"/>
          </a:xfrm>
        </p:spPr>
        <p:txBody>
          <a:bodyPr>
            <a:normAutofit fontScale="90000"/>
          </a:bodyPr>
          <a:lstStyle/>
          <a:p>
            <a:r>
              <a:rPr lang="en-GB" dirty="0"/>
              <a:t>RESULTS SCATTERPLOT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2B7B89A1-9444-8322-CADC-42D31D698FA8}"/>
              </a:ext>
            </a:extLst>
          </p:cNvPr>
          <p:cNvSpPr>
            <a:spLocks noGrp="1"/>
          </p:cNvSpPr>
          <p:nvPr>
            <p:ph type="body" sz="quarter" idx="12"/>
          </p:nvPr>
        </p:nvSpPr>
        <p:spPr>
          <a:xfrm>
            <a:off x="807163" y="1431693"/>
            <a:ext cx="5712907" cy="4743820"/>
          </a:xfrm>
        </p:spPr>
        <p:txBody>
          <a:bodyPr>
            <a:normAutofit fontScale="85000" lnSpcReduction="10000"/>
          </a:bodyPr>
          <a:lstStyle/>
          <a:p>
            <a:r>
              <a:rPr lang="en-US" b="1" dirty="0"/>
              <a:t>Title:</a:t>
            </a:r>
          </a:p>
          <a:p>
            <a:r>
              <a:rPr lang="en-US" b="1" dirty="0"/>
              <a:t>Relationship Between Rainfall and Agricultural Yield</a:t>
            </a:r>
            <a:endParaRPr lang="en-US" dirty="0"/>
          </a:p>
          <a:p>
            <a:r>
              <a:rPr lang="en-US" b="1" dirty="0"/>
              <a:t>Explanation:</a:t>
            </a:r>
          </a:p>
          <a:p>
            <a:r>
              <a:rPr lang="en-US" dirty="0"/>
              <a:t>The scatter plot examines the relationship between rainfall and agricultural yield.</a:t>
            </a:r>
          </a:p>
          <a:p>
            <a:r>
              <a:rPr lang="en-US" dirty="0"/>
              <a:t>Each point represents an observation from the dataset, while the different seasons help compare observations under different seasonal conditions.</a:t>
            </a:r>
          </a:p>
          <a:p>
            <a:r>
              <a:rPr lang="en-US" dirty="0"/>
              <a:t>The points do not show a strong visible linear relationship between rainfall and yield.</a:t>
            </a:r>
          </a:p>
          <a:p>
            <a:r>
              <a:rPr lang="en-US" dirty="0"/>
              <a:t>The statistical analysis also shows a </a:t>
            </a:r>
            <a:r>
              <a:rPr lang="en-US" b="1" dirty="0"/>
              <a:t>very weak positive correlation between rainfall and yield</a:t>
            </a:r>
            <a:r>
              <a:rPr lang="en-US" dirty="0"/>
              <a:t>, with a correlation coefficient of approximately </a:t>
            </a:r>
            <a:r>
              <a:rPr lang="en-US" b="1" dirty="0"/>
              <a:t>0.03</a:t>
            </a:r>
            <a:r>
              <a:rPr lang="en-US" dirty="0"/>
              <a:t>.</a:t>
            </a:r>
          </a:p>
          <a:p>
            <a:r>
              <a:rPr lang="en-US" dirty="0"/>
              <a:t>Therefore, rainfall alone does not appear to explain much of the variation in yield in this dataset.</a:t>
            </a:r>
          </a:p>
          <a:p>
            <a:pPr marL="0" indent="0">
              <a:buNone/>
            </a:pPr>
            <a:endParaRPr lang="en-IN" dirty="0"/>
          </a:p>
        </p:txBody>
      </p:sp>
      <p:pic>
        <p:nvPicPr>
          <p:cNvPr id="3" name="Picture 2">
            <a:extLst>
              <a:ext uri="{FF2B5EF4-FFF2-40B4-BE49-F238E27FC236}">
                <a16:creationId xmlns:a16="http://schemas.microsoft.com/office/drawing/2014/main" id="{988A56FE-7B36-4AAB-82B1-284D136D2F0B}"/>
              </a:ext>
            </a:extLst>
          </p:cNvPr>
          <p:cNvPicPr>
            <a:picLocks noChangeAspect="1"/>
          </p:cNvPicPr>
          <p:nvPr/>
        </p:nvPicPr>
        <p:blipFill>
          <a:blip r:embed="rId3"/>
          <a:stretch>
            <a:fillRect/>
          </a:stretch>
        </p:blipFill>
        <p:spPr>
          <a:xfrm>
            <a:off x="7007466" y="393780"/>
            <a:ext cx="4816841" cy="6101331"/>
          </a:xfrm>
          <a:prstGeom prst="rect">
            <a:avLst/>
          </a:prstGeom>
        </p:spPr>
      </p:pic>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10">
                                            <p:txEl>
                                              <p:pRg st="1" end="1"/>
                                            </p:txEl>
                                          </p:spTgt>
                                        </p:tgtEl>
                                        <p:attrNameLst>
                                          <p:attrName>style.visibility</p:attrName>
                                        </p:attrNameLst>
                                      </p:cBhvr>
                                      <p:to>
                                        <p:strVal val="visible"/>
                                      </p:to>
                                    </p:set>
                                    <p:animEffect transition="in" filter="fade">
                                      <p:cBhvr>
                                        <p:cTn id="35" dur="1000"/>
                                        <p:tgtEl>
                                          <p:spTgt spid="10">
                                            <p:txEl>
                                              <p:pRg st="1" end="1"/>
                                            </p:txEl>
                                          </p:spTgt>
                                        </p:tgtEl>
                                      </p:cBhvr>
                                    </p:animEffect>
                                    <p:anim calcmode="lin" valueType="num">
                                      <p:cBhvr>
                                        <p:cTn id="36" dur="1000" fill="hold"/>
                                        <p:tgtEl>
                                          <p:spTgt spid="10">
                                            <p:txEl>
                                              <p:pRg st="1" end="1"/>
                                            </p:txEl>
                                          </p:spTgt>
                                        </p:tgtEl>
                                        <p:attrNameLst>
                                          <p:attrName>ppt_x</p:attrName>
                                        </p:attrNameLst>
                                      </p:cBhvr>
                                      <p:tavLst>
                                        <p:tav tm="0">
                                          <p:val>
                                            <p:strVal val="#ppt_x"/>
                                          </p:val>
                                        </p:tav>
                                        <p:tav tm="100000">
                                          <p:val>
                                            <p:strVal val="#ppt_x"/>
                                          </p:val>
                                        </p:tav>
                                      </p:tavLst>
                                    </p:anim>
                                    <p:anim calcmode="lin" valueType="num">
                                      <p:cBhvr>
                                        <p:cTn id="37" dur="1000" fill="hold"/>
                                        <p:tgtEl>
                                          <p:spTgt spid="10">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0">
                                            <p:txEl>
                                              <p:pRg st="2" end="2"/>
                                            </p:txEl>
                                          </p:spTgt>
                                        </p:tgtEl>
                                        <p:attrNameLst>
                                          <p:attrName>style.visibility</p:attrName>
                                        </p:attrNameLst>
                                      </p:cBhvr>
                                      <p:to>
                                        <p:strVal val="visible"/>
                                      </p:to>
                                    </p:set>
                                    <p:animEffect transition="in" filter="fade">
                                      <p:cBhvr>
                                        <p:cTn id="42" dur="1000"/>
                                        <p:tgtEl>
                                          <p:spTgt spid="10">
                                            <p:txEl>
                                              <p:pRg st="2" end="2"/>
                                            </p:txEl>
                                          </p:spTgt>
                                        </p:tgtEl>
                                      </p:cBhvr>
                                    </p:animEffect>
                                    <p:anim calcmode="lin" valueType="num">
                                      <p:cBhvr>
                                        <p:cTn id="43" dur="1000" fill="hold"/>
                                        <p:tgtEl>
                                          <p:spTgt spid="10">
                                            <p:txEl>
                                              <p:pRg st="2" end="2"/>
                                            </p:txEl>
                                          </p:spTgt>
                                        </p:tgtEl>
                                        <p:attrNameLst>
                                          <p:attrName>ppt_x</p:attrName>
                                        </p:attrNameLst>
                                      </p:cBhvr>
                                      <p:tavLst>
                                        <p:tav tm="0">
                                          <p:val>
                                            <p:strVal val="#ppt_x"/>
                                          </p:val>
                                        </p:tav>
                                        <p:tav tm="100000">
                                          <p:val>
                                            <p:strVal val="#ppt_x"/>
                                          </p:val>
                                        </p:tav>
                                      </p:tavLst>
                                    </p:anim>
                                    <p:anim calcmode="lin" valueType="num">
                                      <p:cBhvr>
                                        <p:cTn id="44" dur="1000" fill="hold"/>
                                        <p:tgtEl>
                                          <p:spTgt spid="10">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0">
                                            <p:txEl>
                                              <p:pRg st="3" end="3"/>
                                            </p:txEl>
                                          </p:spTgt>
                                        </p:tgtEl>
                                        <p:attrNameLst>
                                          <p:attrName>style.visibility</p:attrName>
                                        </p:attrNameLst>
                                      </p:cBhvr>
                                      <p:to>
                                        <p:strVal val="visible"/>
                                      </p:to>
                                    </p:set>
                                    <p:animEffect transition="in" filter="fade">
                                      <p:cBhvr>
                                        <p:cTn id="49" dur="1000"/>
                                        <p:tgtEl>
                                          <p:spTgt spid="10">
                                            <p:txEl>
                                              <p:pRg st="3" end="3"/>
                                            </p:txEl>
                                          </p:spTgt>
                                        </p:tgtEl>
                                      </p:cBhvr>
                                    </p:animEffect>
                                    <p:anim calcmode="lin" valueType="num">
                                      <p:cBhvr>
                                        <p:cTn id="50" dur="1000" fill="hold"/>
                                        <p:tgtEl>
                                          <p:spTgt spid="10">
                                            <p:txEl>
                                              <p:pRg st="3" end="3"/>
                                            </p:txEl>
                                          </p:spTgt>
                                        </p:tgtEl>
                                        <p:attrNameLst>
                                          <p:attrName>ppt_x</p:attrName>
                                        </p:attrNameLst>
                                      </p:cBhvr>
                                      <p:tavLst>
                                        <p:tav tm="0">
                                          <p:val>
                                            <p:strVal val="#ppt_x"/>
                                          </p:val>
                                        </p:tav>
                                        <p:tav tm="100000">
                                          <p:val>
                                            <p:strVal val="#ppt_x"/>
                                          </p:val>
                                        </p:tav>
                                      </p:tavLst>
                                    </p:anim>
                                    <p:anim calcmode="lin" valueType="num">
                                      <p:cBhvr>
                                        <p:cTn id="51" dur="1000" fill="hold"/>
                                        <p:tgtEl>
                                          <p:spTgt spid="10">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10">
                                            <p:txEl>
                                              <p:pRg st="4" end="4"/>
                                            </p:txEl>
                                          </p:spTgt>
                                        </p:tgtEl>
                                        <p:attrNameLst>
                                          <p:attrName>style.visibility</p:attrName>
                                        </p:attrNameLst>
                                      </p:cBhvr>
                                      <p:to>
                                        <p:strVal val="visible"/>
                                      </p:to>
                                    </p:set>
                                    <p:animEffect transition="in" filter="fade">
                                      <p:cBhvr>
                                        <p:cTn id="56" dur="1000"/>
                                        <p:tgtEl>
                                          <p:spTgt spid="10">
                                            <p:txEl>
                                              <p:pRg st="4" end="4"/>
                                            </p:txEl>
                                          </p:spTgt>
                                        </p:tgtEl>
                                      </p:cBhvr>
                                    </p:animEffect>
                                    <p:anim calcmode="lin" valueType="num">
                                      <p:cBhvr>
                                        <p:cTn id="57" dur="1000" fill="hold"/>
                                        <p:tgtEl>
                                          <p:spTgt spid="10">
                                            <p:txEl>
                                              <p:pRg st="4" end="4"/>
                                            </p:txEl>
                                          </p:spTgt>
                                        </p:tgtEl>
                                        <p:attrNameLst>
                                          <p:attrName>ppt_x</p:attrName>
                                        </p:attrNameLst>
                                      </p:cBhvr>
                                      <p:tavLst>
                                        <p:tav tm="0">
                                          <p:val>
                                            <p:strVal val="#ppt_x"/>
                                          </p:val>
                                        </p:tav>
                                        <p:tav tm="100000">
                                          <p:val>
                                            <p:strVal val="#ppt_x"/>
                                          </p:val>
                                        </p:tav>
                                      </p:tavLst>
                                    </p:anim>
                                    <p:anim calcmode="lin" valueType="num">
                                      <p:cBhvr>
                                        <p:cTn id="58" dur="1000" fill="hold"/>
                                        <p:tgtEl>
                                          <p:spTgt spid="10">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10">
                                            <p:txEl>
                                              <p:pRg st="5" end="5"/>
                                            </p:txEl>
                                          </p:spTgt>
                                        </p:tgtEl>
                                        <p:attrNameLst>
                                          <p:attrName>style.visibility</p:attrName>
                                        </p:attrNameLst>
                                      </p:cBhvr>
                                      <p:to>
                                        <p:strVal val="visible"/>
                                      </p:to>
                                    </p:set>
                                    <p:animEffect transition="in" filter="fade">
                                      <p:cBhvr>
                                        <p:cTn id="63" dur="1000"/>
                                        <p:tgtEl>
                                          <p:spTgt spid="10">
                                            <p:txEl>
                                              <p:pRg st="5" end="5"/>
                                            </p:txEl>
                                          </p:spTgt>
                                        </p:tgtEl>
                                      </p:cBhvr>
                                    </p:animEffect>
                                    <p:anim calcmode="lin" valueType="num">
                                      <p:cBhvr>
                                        <p:cTn id="64" dur="1000" fill="hold"/>
                                        <p:tgtEl>
                                          <p:spTgt spid="10">
                                            <p:txEl>
                                              <p:pRg st="5" end="5"/>
                                            </p:txEl>
                                          </p:spTgt>
                                        </p:tgtEl>
                                        <p:attrNameLst>
                                          <p:attrName>ppt_x</p:attrName>
                                        </p:attrNameLst>
                                      </p:cBhvr>
                                      <p:tavLst>
                                        <p:tav tm="0">
                                          <p:val>
                                            <p:strVal val="#ppt_x"/>
                                          </p:val>
                                        </p:tav>
                                        <p:tav tm="100000">
                                          <p:val>
                                            <p:strVal val="#ppt_x"/>
                                          </p:val>
                                        </p:tav>
                                      </p:tavLst>
                                    </p:anim>
                                    <p:anim calcmode="lin" valueType="num">
                                      <p:cBhvr>
                                        <p:cTn id="65" dur="1000" fill="hold"/>
                                        <p:tgtEl>
                                          <p:spTgt spid="10">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42" presetClass="entr" presetSubtype="0" fill="hold" grpId="0" nodeType="clickEffect">
                                  <p:stCondLst>
                                    <p:cond delay="0"/>
                                  </p:stCondLst>
                                  <p:childTnLst>
                                    <p:set>
                                      <p:cBhvr>
                                        <p:cTn id="69" dur="1" fill="hold">
                                          <p:stCondLst>
                                            <p:cond delay="0"/>
                                          </p:stCondLst>
                                        </p:cTn>
                                        <p:tgtEl>
                                          <p:spTgt spid="10">
                                            <p:txEl>
                                              <p:pRg st="6" end="6"/>
                                            </p:txEl>
                                          </p:spTgt>
                                        </p:tgtEl>
                                        <p:attrNameLst>
                                          <p:attrName>style.visibility</p:attrName>
                                        </p:attrNameLst>
                                      </p:cBhvr>
                                      <p:to>
                                        <p:strVal val="visible"/>
                                      </p:to>
                                    </p:set>
                                    <p:animEffect transition="in" filter="fade">
                                      <p:cBhvr>
                                        <p:cTn id="70" dur="1000"/>
                                        <p:tgtEl>
                                          <p:spTgt spid="10">
                                            <p:txEl>
                                              <p:pRg st="6" end="6"/>
                                            </p:txEl>
                                          </p:spTgt>
                                        </p:tgtEl>
                                      </p:cBhvr>
                                    </p:animEffect>
                                    <p:anim calcmode="lin" valueType="num">
                                      <p:cBhvr>
                                        <p:cTn id="71" dur="1000" fill="hold"/>
                                        <p:tgtEl>
                                          <p:spTgt spid="10">
                                            <p:txEl>
                                              <p:pRg st="6" end="6"/>
                                            </p:txEl>
                                          </p:spTgt>
                                        </p:tgtEl>
                                        <p:attrNameLst>
                                          <p:attrName>ppt_x</p:attrName>
                                        </p:attrNameLst>
                                      </p:cBhvr>
                                      <p:tavLst>
                                        <p:tav tm="0">
                                          <p:val>
                                            <p:strVal val="#ppt_x"/>
                                          </p:val>
                                        </p:tav>
                                        <p:tav tm="100000">
                                          <p:val>
                                            <p:strVal val="#ppt_x"/>
                                          </p:val>
                                        </p:tav>
                                      </p:tavLst>
                                    </p:anim>
                                    <p:anim calcmode="lin" valueType="num">
                                      <p:cBhvr>
                                        <p:cTn id="72" dur="1000" fill="hold"/>
                                        <p:tgtEl>
                                          <p:spTgt spid="10">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42" presetClass="entr" presetSubtype="0" fill="hold" grpId="0" nodeType="clickEffect">
                                  <p:stCondLst>
                                    <p:cond delay="0"/>
                                  </p:stCondLst>
                                  <p:childTnLst>
                                    <p:set>
                                      <p:cBhvr>
                                        <p:cTn id="76" dur="1" fill="hold">
                                          <p:stCondLst>
                                            <p:cond delay="0"/>
                                          </p:stCondLst>
                                        </p:cTn>
                                        <p:tgtEl>
                                          <p:spTgt spid="10">
                                            <p:txEl>
                                              <p:pRg st="7" end="7"/>
                                            </p:txEl>
                                          </p:spTgt>
                                        </p:tgtEl>
                                        <p:attrNameLst>
                                          <p:attrName>style.visibility</p:attrName>
                                        </p:attrNameLst>
                                      </p:cBhvr>
                                      <p:to>
                                        <p:strVal val="visible"/>
                                      </p:to>
                                    </p:set>
                                    <p:animEffect transition="in" filter="fade">
                                      <p:cBhvr>
                                        <p:cTn id="77" dur="1000"/>
                                        <p:tgtEl>
                                          <p:spTgt spid="10">
                                            <p:txEl>
                                              <p:pRg st="7" end="7"/>
                                            </p:txEl>
                                          </p:spTgt>
                                        </p:tgtEl>
                                      </p:cBhvr>
                                    </p:animEffect>
                                    <p:anim calcmode="lin" valueType="num">
                                      <p:cBhvr>
                                        <p:cTn id="78" dur="1000" fill="hold"/>
                                        <p:tgtEl>
                                          <p:spTgt spid="10">
                                            <p:txEl>
                                              <p:pRg st="7" end="7"/>
                                            </p:txEl>
                                          </p:spTgt>
                                        </p:tgtEl>
                                        <p:attrNameLst>
                                          <p:attrName>ppt_x</p:attrName>
                                        </p:attrNameLst>
                                      </p:cBhvr>
                                      <p:tavLst>
                                        <p:tav tm="0">
                                          <p:val>
                                            <p:strVal val="#ppt_x"/>
                                          </p:val>
                                        </p:tav>
                                        <p:tav tm="100000">
                                          <p:val>
                                            <p:strVal val="#ppt_x"/>
                                          </p:val>
                                        </p:tav>
                                      </p:tavLst>
                                    </p:anim>
                                    <p:anim calcmode="lin" valueType="num">
                                      <p:cBhvr>
                                        <p:cTn id="79" dur="1000" fill="hold"/>
                                        <p:tgtEl>
                                          <p:spTgt spid="10">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893667" y="370589"/>
            <a:ext cx="5420043" cy="830997"/>
          </a:xfrm>
        </p:spPr>
        <p:txBody>
          <a:bodyPr>
            <a:normAutofit fontScale="90000"/>
          </a:bodyPr>
          <a:lstStyle/>
          <a:p>
            <a:r>
              <a:rPr lang="en-GB" dirty="0"/>
              <a:t>RESULTS HEATMAP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F85C769B-425A-FE3B-E47A-3B747985DC52}"/>
              </a:ext>
            </a:extLst>
          </p:cNvPr>
          <p:cNvSpPr>
            <a:spLocks noGrp="1"/>
          </p:cNvSpPr>
          <p:nvPr>
            <p:ph type="body" sz="quarter" idx="12"/>
          </p:nvPr>
        </p:nvSpPr>
        <p:spPr>
          <a:xfrm>
            <a:off x="807163" y="1431693"/>
            <a:ext cx="5288837" cy="5055718"/>
          </a:xfrm>
        </p:spPr>
        <p:txBody>
          <a:bodyPr>
            <a:normAutofit fontScale="85000" lnSpcReduction="20000"/>
          </a:bodyPr>
          <a:lstStyle/>
          <a:p>
            <a:r>
              <a:rPr lang="en-US" b="1" dirty="0"/>
              <a:t>Title:</a:t>
            </a:r>
          </a:p>
          <a:p>
            <a:r>
              <a:rPr lang="en-US" b="1" dirty="0"/>
              <a:t>Correlation Heatmap of Agricultural Variables</a:t>
            </a:r>
            <a:endParaRPr lang="en-US" dirty="0"/>
          </a:p>
          <a:p>
            <a:r>
              <a:rPr lang="en-US" b="1" dirty="0"/>
              <a:t>Explanation:</a:t>
            </a:r>
          </a:p>
          <a:p>
            <a:r>
              <a:rPr lang="en-US" dirty="0"/>
              <a:t>The heatmap shows the strength and direction of relationships between important numerical agricultural variables.</a:t>
            </a:r>
          </a:p>
          <a:p>
            <a:r>
              <a:rPr lang="en-US" dirty="0"/>
              <a:t>The strongest positive relationship with yield is observed for </a:t>
            </a:r>
            <a:r>
              <a:rPr lang="en-US" b="1" dirty="0"/>
              <a:t>Water Efficiency</a:t>
            </a:r>
            <a:r>
              <a:rPr lang="en-US" dirty="0"/>
              <a:t>, with a correlation of approximately </a:t>
            </a:r>
            <a:r>
              <a:rPr lang="en-US" b="1" dirty="0"/>
              <a:t>0.92</a:t>
            </a:r>
            <a:r>
              <a:rPr lang="en-US" dirty="0"/>
              <a:t>.</a:t>
            </a:r>
          </a:p>
          <a:p>
            <a:r>
              <a:rPr lang="en-US" dirty="0"/>
              <a:t>Profit has a moderate positive relationship with yield at approximately </a:t>
            </a:r>
            <a:r>
              <a:rPr lang="en-US" b="1" dirty="0"/>
              <a:t>0.49</a:t>
            </a:r>
            <a:r>
              <a:rPr lang="en-US" dirty="0"/>
              <a:t>, while Water Used has a moderate positive relationship of approximately </a:t>
            </a:r>
            <a:r>
              <a:rPr lang="en-US" b="1" dirty="0"/>
              <a:t>0.39</a:t>
            </a:r>
            <a:r>
              <a:rPr lang="en-US" dirty="0"/>
              <a:t>.</a:t>
            </a:r>
          </a:p>
          <a:p>
            <a:r>
              <a:rPr lang="en-US" dirty="0"/>
              <a:t>Rainfall, temperature, humidity, soil moisture and fertilizer usage show very weak linear relationships with yield.</a:t>
            </a:r>
          </a:p>
          <a:p>
            <a:r>
              <a:rPr lang="en-US" dirty="0"/>
              <a:t>The heatmap helps identify the variables that are most strongly associated with agricultural yield.</a:t>
            </a:r>
          </a:p>
          <a:p>
            <a:pPr marL="0" indent="0">
              <a:buNone/>
            </a:pPr>
            <a:endParaRPr lang="en-IN" dirty="0"/>
          </a:p>
        </p:txBody>
      </p:sp>
      <p:pic>
        <p:nvPicPr>
          <p:cNvPr id="3" name="Picture 2">
            <a:extLst>
              <a:ext uri="{FF2B5EF4-FFF2-40B4-BE49-F238E27FC236}">
                <a16:creationId xmlns:a16="http://schemas.microsoft.com/office/drawing/2014/main" id="{AE896967-C6A5-4262-B2A4-D95DFC74D326}"/>
              </a:ext>
            </a:extLst>
          </p:cNvPr>
          <p:cNvPicPr>
            <a:picLocks noChangeAspect="1"/>
          </p:cNvPicPr>
          <p:nvPr/>
        </p:nvPicPr>
        <p:blipFill>
          <a:blip r:embed="rId3"/>
          <a:stretch>
            <a:fillRect/>
          </a:stretch>
        </p:blipFill>
        <p:spPr>
          <a:xfrm>
            <a:off x="6747470" y="387842"/>
            <a:ext cx="4946005" cy="6277118"/>
          </a:xfrm>
          <a:prstGeom prst="rect">
            <a:avLst/>
          </a:prstGeom>
        </p:spPr>
      </p:pic>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10">
                                            <p:txEl>
                                              <p:pRg st="1" end="1"/>
                                            </p:txEl>
                                          </p:spTgt>
                                        </p:tgtEl>
                                        <p:attrNameLst>
                                          <p:attrName>style.visibility</p:attrName>
                                        </p:attrNameLst>
                                      </p:cBhvr>
                                      <p:to>
                                        <p:strVal val="visible"/>
                                      </p:to>
                                    </p:set>
                                    <p:animEffect transition="in" filter="fade">
                                      <p:cBhvr>
                                        <p:cTn id="35" dur="1000"/>
                                        <p:tgtEl>
                                          <p:spTgt spid="10">
                                            <p:txEl>
                                              <p:pRg st="1" end="1"/>
                                            </p:txEl>
                                          </p:spTgt>
                                        </p:tgtEl>
                                      </p:cBhvr>
                                    </p:animEffect>
                                    <p:anim calcmode="lin" valueType="num">
                                      <p:cBhvr>
                                        <p:cTn id="36" dur="1000" fill="hold"/>
                                        <p:tgtEl>
                                          <p:spTgt spid="10">
                                            <p:txEl>
                                              <p:pRg st="1" end="1"/>
                                            </p:txEl>
                                          </p:spTgt>
                                        </p:tgtEl>
                                        <p:attrNameLst>
                                          <p:attrName>ppt_x</p:attrName>
                                        </p:attrNameLst>
                                      </p:cBhvr>
                                      <p:tavLst>
                                        <p:tav tm="0">
                                          <p:val>
                                            <p:strVal val="#ppt_x"/>
                                          </p:val>
                                        </p:tav>
                                        <p:tav tm="100000">
                                          <p:val>
                                            <p:strVal val="#ppt_x"/>
                                          </p:val>
                                        </p:tav>
                                      </p:tavLst>
                                    </p:anim>
                                    <p:anim calcmode="lin" valueType="num">
                                      <p:cBhvr>
                                        <p:cTn id="37" dur="1000" fill="hold"/>
                                        <p:tgtEl>
                                          <p:spTgt spid="10">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0">
                                            <p:txEl>
                                              <p:pRg st="2" end="2"/>
                                            </p:txEl>
                                          </p:spTgt>
                                        </p:tgtEl>
                                        <p:attrNameLst>
                                          <p:attrName>style.visibility</p:attrName>
                                        </p:attrNameLst>
                                      </p:cBhvr>
                                      <p:to>
                                        <p:strVal val="visible"/>
                                      </p:to>
                                    </p:set>
                                    <p:animEffect transition="in" filter="fade">
                                      <p:cBhvr>
                                        <p:cTn id="42" dur="1000"/>
                                        <p:tgtEl>
                                          <p:spTgt spid="10">
                                            <p:txEl>
                                              <p:pRg st="2" end="2"/>
                                            </p:txEl>
                                          </p:spTgt>
                                        </p:tgtEl>
                                      </p:cBhvr>
                                    </p:animEffect>
                                    <p:anim calcmode="lin" valueType="num">
                                      <p:cBhvr>
                                        <p:cTn id="43" dur="1000" fill="hold"/>
                                        <p:tgtEl>
                                          <p:spTgt spid="10">
                                            <p:txEl>
                                              <p:pRg st="2" end="2"/>
                                            </p:txEl>
                                          </p:spTgt>
                                        </p:tgtEl>
                                        <p:attrNameLst>
                                          <p:attrName>ppt_x</p:attrName>
                                        </p:attrNameLst>
                                      </p:cBhvr>
                                      <p:tavLst>
                                        <p:tav tm="0">
                                          <p:val>
                                            <p:strVal val="#ppt_x"/>
                                          </p:val>
                                        </p:tav>
                                        <p:tav tm="100000">
                                          <p:val>
                                            <p:strVal val="#ppt_x"/>
                                          </p:val>
                                        </p:tav>
                                      </p:tavLst>
                                    </p:anim>
                                    <p:anim calcmode="lin" valueType="num">
                                      <p:cBhvr>
                                        <p:cTn id="44" dur="1000" fill="hold"/>
                                        <p:tgtEl>
                                          <p:spTgt spid="10">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0">
                                            <p:txEl>
                                              <p:pRg st="3" end="3"/>
                                            </p:txEl>
                                          </p:spTgt>
                                        </p:tgtEl>
                                        <p:attrNameLst>
                                          <p:attrName>style.visibility</p:attrName>
                                        </p:attrNameLst>
                                      </p:cBhvr>
                                      <p:to>
                                        <p:strVal val="visible"/>
                                      </p:to>
                                    </p:set>
                                    <p:animEffect transition="in" filter="fade">
                                      <p:cBhvr>
                                        <p:cTn id="49" dur="1000"/>
                                        <p:tgtEl>
                                          <p:spTgt spid="10">
                                            <p:txEl>
                                              <p:pRg st="3" end="3"/>
                                            </p:txEl>
                                          </p:spTgt>
                                        </p:tgtEl>
                                      </p:cBhvr>
                                    </p:animEffect>
                                    <p:anim calcmode="lin" valueType="num">
                                      <p:cBhvr>
                                        <p:cTn id="50" dur="1000" fill="hold"/>
                                        <p:tgtEl>
                                          <p:spTgt spid="10">
                                            <p:txEl>
                                              <p:pRg st="3" end="3"/>
                                            </p:txEl>
                                          </p:spTgt>
                                        </p:tgtEl>
                                        <p:attrNameLst>
                                          <p:attrName>ppt_x</p:attrName>
                                        </p:attrNameLst>
                                      </p:cBhvr>
                                      <p:tavLst>
                                        <p:tav tm="0">
                                          <p:val>
                                            <p:strVal val="#ppt_x"/>
                                          </p:val>
                                        </p:tav>
                                        <p:tav tm="100000">
                                          <p:val>
                                            <p:strVal val="#ppt_x"/>
                                          </p:val>
                                        </p:tav>
                                      </p:tavLst>
                                    </p:anim>
                                    <p:anim calcmode="lin" valueType="num">
                                      <p:cBhvr>
                                        <p:cTn id="51" dur="1000" fill="hold"/>
                                        <p:tgtEl>
                                          <p:spTgt spid="10">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10">
                                            <p:txEl>
                                              <p:pRg st="4" end="4"/>
                                            </p:txEl>
                                          </p:spTgt>
                                        </p:tgtEl>
                                        <p:attrNameLst>
                                          <p:attrName>style.visibility</p:attrName>
                                        </p:attrNameLst>
                                      </p:cBhvr>
                                      <p:to>
                                        <p:strVal val="visible"/>
                                      </p:to>
                                    </p:set>
                                    <p:animEffect transition="in" filter="fade">
                                      <p:cBhvr>
                                        <p:cTn id="56" dur="1000"/>
                                        <p:tgtEl>
                                          <p:spTgt spid="10">
                                            <p:txEl>
                                              <p:pRg st="4" end="4"/>
                                            </p:txEl>
                                          </p:spTgt>
                                        </p:tgtEl>
                                      </p:cBhvr>
                                    </p:animEffect>
                                    <p:anim calcmode="lin" valueType="num">
                                      <p:cBhvr>
                                        <p:cTn id="57" dur="1000" fill="hold"/>
                                        <p:tgtEl>
                                          <p:spTgt spid="10">
                                            <p:txEl>
                                              <p:pRg st="4" end="4"/>
                                            </p:txEl>
                                          </p:spTgt>
                                        </p:tgtEl>
                                        <p:attrNameLst>
                                          <p:attrName>ppt_x</p:attrName>
                                        </p:attrNameLst>
                                      </p:cBhvr>
                                      <p:tavLst>
                                        <p:tav tm="0">
                                          <p:val>
                                            <p:strVal val="#ppt_x"/>
                                          </p:val>
                                        </p:tav>
                                        <p:tav tm="100000">
                                          <p:val>
                                            <p:strVal val="#ppt_x"/>
                                          </p:val>
                                        </p:tav>
                                      </p:tavLst>
                                    </p:anim>
                                    <p:anim calcmode="lin" valueType="num">
                                      <p:cBhvr>
                                        <p:cTn id="58" dur="1000" fill="hold"/>
                                        <p:tgtEl>
                                          <p:spTgt spid="10">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10">
                                            <p:txEl>
                                              <p:pRg st="5" end="5"/>
                                            </p:txEl>
                                          </p:spTgt>
                                        </p:tgtEl>
                                        <p:attrNameLst>
                                          <p:attrName>style.visibility</p:attrName>
                                        </p:attrNameLst>
                                      </p:cBhvr>
                                      <p:to>
                                        <p:strVal val="visible"/>
                                      </p:to>
                                    </p:set>
                                    <p:animEffect transition="in" filter="fade">
                                      <p:cBhvr>
                                        <p:cTn id="63" dur="1000"/>
                                        <p:tgtEl>
                                          <p:spTgt spid="10">
                                            <p:txEl>
                                              <p:pRg st="5" end="5"/>
                                            </p:txEl>
                                          </p:spTgt>
                                        </p:tgtEl>
                                      </p:cBhvr>
                                    </p:animEffect>
                                    <p:anim calcmode="lin" valueType="num">
                                      <p:cBhvr>
                                        <p:cTn id="64" dur="1000" fill="hold"/>
                                        <p:tgtEl>
                                          <p:spTgt spid="10">
                                            <p:txEl>
                                              <p:pRg st="5" end="5"/>
                                            </p:txEl>
                                          </p:spTgt>
                                        </p:tgtEl>
                                        <p:attrNameLst>
                                          <p:attrName>ppt_x</p:attrName>
                                        </p:attrNameLst>
                                      </p:cBhvr>
                                      <p:tavLst>
                                        <p:tav tm="0">
                                          <p:val>
                                            <p:strVal val="#ppt_x"/>
                                          </p:val>
                                        </p:tav>
                                        <p:tav tm="100000">
                                          <p:val>
                                            <p:strVal val="#ppt_x"/>
                                          </p:val>
                                        </p:tav>
                                      </p:tavLst>
                                    </p:anim>
                                    <p:anim calcmode="lin" valueType="num">
                                      <p:cBhvr>
                                        <p:cTn id="65" dur="1000" fill="hold"/>
                                        <p:tgtEl>
                                          <p:spTgt spid="10">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42" presetClass="entr" presetSubtype="0" fill="hold" grpId="0" nodeType="clickEffect">
                                  <p:stCondLst>
                                    <p:cond delay="0"/>
                                  </p:stCondLst>
                                  <p:childTnLst>
                                    <p:set>
                                      <p:cBhvr>
                                        <p:cTn id="69" dur="1" fill="hold">
                                          <p:stCondLst>
                                            <p:cond delay="0"/>
                                          </p:stCondLst>
                                        </p:cTn>
                                        <p:tgtEl>
                                          <p:spTgt spid="10">
                                            <p:txEl>
                                              <p:pRg st="6" end="6"/>
                                            </p:txEl>
                                          </p:spTgt>
                                        </p:tgtEl>
                                        <p:attrNameLst>
                                          <p:attrName>style.visibility</p:attrName>
                                        </p:attrNameLst>
                                      </p:cBhvr>
                                      <p:to>
                                        <p:strVal val="visible"/>
                                      </p:to>
                                    </p:set>
                                    <p:animEffect transition="in" filter="fade">
                                      <p:cBhvr>
                                        <p:cTn id="70" dur="1000"/>
                                        <p:tgtEl>
                                          <p:spTgt spid="10">
                                            <p:txEl>
                                              <p:pRg st="6" end="6"/>
                                            </p:txEl>
                                          </p:spTgt>
                                        </p:tgtEl>
                                      </p:cBhvr>
                                    </p:animEffect>
                                    <p:anim calcmode="lin" valueType="num">
                                      <p:cBhvr>
                                        <p:cTn id="71" dur="1000" fill="hold"/>
                                        <p:tgtEl>
                                          <p:spTgt spid="10">
                                            <p:txEl>
                                              <p:pRg st="6" end="6"/>
                                            </p:txEl>
                                          </p:spTgt>
                                        </p:tgtEl>
                                        <p:attrNameLst>
                                          <p:attrName>ppt_x</p:attrName>
                                        </p:attrNameLst>
                                      </p:cBhvr>
                                      <p:tavLst>
                                        <p:tav tm="0">
                                          <p:val>
                                            <p:strVal val="#ppt_x"/>
                                          </p:val>
                                        </p:tav>
                                        <p:tav tm="100000">
                                          <p:val>
                                            <p:strVal val="#ppt_x"/>
                                          </p:val>
                                        </p:tav>
                                      </p:tavLst>
                                    </p:anim>
                                    <p:anim calcmode="lin" valueType="num">
                                      <p:cBhvr>
                                        <p:cTn id="72" dur="1000" fill="hold"/>
                                        <p:tgtEl>
                                          <p:spTgt spid="10">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42" presetClass="entr" presetSubtype="0" fill="hold" grpId="0" nodeType="clickEffect">
                                  <p:stCondLst>
                                    <p:cond delay="0"/>
                                  </p:stCondLst>
                                  <p:childTnLst>
                                    <p:set>
                                      <p:cBhvr>
                                        <p:cTn id="76" dur="1" fill="hold">
                                          <p:stCondLst>
                                            <p:cond delay="0"/>
                                          </p:stCondLst>
                                        </p:cTn>
                                        <p:tgtEl>
                                          <p:spTgt spid="10">
                                            <p:txEl>
                                              <p:pRg st="7" end="7"/>
                                            </p:txEl>
                                          </p:spTgt>
                                        </p:tgtEl>
                                        <p:attrNameLst>
                                          <p:attrName>style.visibility</p:attrName>
                                        </p:attrNameLst>
                                      </p:cBhvr>
                                      <p:to>
                                        <p:strVal val="visible"/>
                                      </p:to>
                                    </p:set>
                                    <p:animEffect transition="in" filter="fade">
                                      <p:cBhvr>
                                        <p:cTn id="77" dur="1000"/>
                                        <p:tgtEl>
                                          <p:spTgt spid="10">
                                            <p:txEl>
                                              <p:pRg st="7" end="7"/>
                                            </p:txEl>
                                          </p:spTgt>
                                        </p:tgtEl>
                                      </p:cBhvr>
                                    </p:animEffect>
                                    <p:anim calcmode="lin" valueType="num">
                                      <p:cBhvr>
                                        <p:cTn id="78" dur="1000" fill="hold"/>
                                        <p:tgtEl>
                                          <p:spTgt spid="10">
                                            <p:txEl>
                                              <p:pRg st="7" end="7"/>
                                            </p:txEl>
                                          </p:spTgt>
                                        </p:tgtEl>
                                        <p:attrNameLst>
                                          <p:attrName>ppt_x</p:attrName>
                                        </p:attrNameLst>
                                      </p:cBhvr>
                                      <p:tavLst>
                                        <p:tav tm="0">
                                          <p:val>
                                            <p:strVal val="#ppt_x"/>
                                          </p:val>
                                        </p:tav>
                                        <p:tav tm="100000">
                                          <p:val>
                                            <p:strVal val="#ppt_x"/>
                                          </p:val>
                                        </p:tav>
                                      </p:tavLst>
                                    </p:anim>
                                    <p:anim calcmode="lin" valueType="num">
                                      <p:cBhvr>
                                        <p:cTn id="79" dur="1000" fill="hold"/>
                                        <p:tgtEl>
                                          <p:spTgt spid="10">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8123486" cy="4320681"/>
          </a:xfrm>
        </p:spPr>
        <p:txBody>
          <a:bodyPr>
            <a:noAutofit/>
          </a:bodyPr>
          <a:lstStyle/>
          <a:p>
            <a:r>
              <a:rPr lang="en-IN" sz="2500" dirty="0"/>
              <a:t>Future scope</a:t>
            </a:r>
            <a:br>
              <a:rPr lang="en-IN" sz="2500" dirty="0"/>
            </a:br>
            <a:br>
              <a:rPr lang="en-IN" sz="2500" dirty="0"/>
            </a:br>
            <a:r>
              <a:rPr lang="en-US" sz="2500" dirty="0"/>
              <a:t>• Develop predictive models for crop yield and profitability.</a:t>
            </a:r>
            <a:br>
              <a:rPr lang="en-US" sz="2500" dirty="0"/>
            </a:br>
            <a:r>
              <a:rPr lang="en-US" sz="2500" dirty="0"/>
              <a:t>• Use larger and more recent agricultural datasets.</a:t>
            </a:r>
            <a:br>
              <a:rPr lang="en-US" sz="2500" dirty="0"/>
            </a:br>
            <a:r>
              <a:rPr lang="en-US" sz="2500" dirty="0"/>
              <a:t>• Include real-time weather and soil data.</a:t>
            </a:r>
            <a:br>
              <a:rPr lang="en-US" sz="2500" dirty="0"/>
            </a:br>
            <a:r>
              <a:rPr lang="en-US" sz="2500" dirty="0"/>
              <a:t>• Develop crop-specific recommendation systems.</a:t>
            </a:r>
            <a:br>
              <a:rPr lang="en-US" sz="2500" dirty="0"/>
            </a:br>
            <a:r>
              <a:rPr lang="en-US" sz="2500" dirty="0"/>
              <a:t>• Build interactive dashboards for farmers and agricultural planners.</a:t>
            </a:r>
            <a:br>
              <a:rPr lang="en-US" sz="2500" dirty="0"/>
            </a:br>
            <a:r>
              <a:rPr lang="en-US" sz="2500" dirty="0"/>
              <a:t>• Analyze regional and district-level agricultural patterns.</a:t>
            </a:r>
            <a:br>
              <a:rPr lang="en-US" sz="2500" dirty="0"/>
            </a:br>
            <a:r>
              <a:rPr lang="en-US" sz="2500" dirty="0"/>
              <a:t>• Use machine learning to predict seasonal agricultural performance.</a:t>
            </a:r>
            <a:br>
              <a:rPr lang="en-US" sz="2500" dirty="0"/>
            </a:br>
            <a:r>
              <a:rPr lang="en-US" sz="2500" dirty="0"/>
              <a:t>• Integrate market-price forecasting for better crop planning.</a:t>
            </a:r>
            <a:endParaRPr lang="en-IN" sz="2500" dirty="0"/>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1500425" y="1201586"/>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1176699" y="1698409"/>
            <a:ext cx="10427473" cy="3461182"/>
          </a:xfrm>
        </p:spPr>
        <p:txBody>
          <a:bodyPr>
            <a:normAutofit/>
          </a:bodyPr>
          <a:lstStyle/>
          <a:p>
            <a:r>
              <a:rPr lang="en-IN" sz="4000" dirty="0"/>
              <a:t>GitHub Link</a:t>
            </a:r>
            <a:br>
              <a:rPr lang="en-IN" sz="4000" dirty="0"/>
            </a:br>
            <a:r>
              <a:rPr lang="en-IN" sz="4000" dirty="0">
                <a:hlinkClick r:id="rId3"/>
              </a:rPr>
              <a:t>https://github.com/rushikeshgogula05-lang/Seasonal-Agriculture-Performance-Analysis</a:t>
            </a:r>
            <a:r>
              <a:rPr lang="en-IN" sz="4000" dirty="0"/>
              <a:t> </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9355939" cy="1816020"/>
          </a:xfrm>
        </p:spPr>
        <p:txBody>
          <a:bodyPr>
            <a:normAutofit fontScale="90000"/>
          </a:bodyPr>
          <a:lstStyle/>
          <a:p>
            <a:r>
              <a:rPr lang="en-IN" sz="2800" dirty="0"/>
              <a:t>VOIS Course completion certificate - </a:t>
            </a:r>
            <a:r>
              <a:rPr lang="en-IN" sz="2800" dirty="0">
                <a:hlinkClick r:id="rId3"/>
              </a:rPr>
              <a:t>RUSHIKESH DATA VISULAISATION CERTIFICATE</a:t>
            </a:r>
            <a:br>
              <a:rPr lang="en-IN" sz="2800" dirty="0"/>
            </a:br>
            <a:r>
              <a:rPr lang="en-IN" sz="2800" dirty="0"/>
              <a:t>Course name- Data Visualization</a:t>
            </a:r>
            <a:br>
              <a:rPr lang="en-IN" sz="3200" dirty="0"/>
            </a:br>
            <a:br>
              <a:rPr lang="en-IN" sz="3200" dirty="0"/>
            </a:br>
            <a:br>
              <a:rPr lang="en-US" sz="3200" dirty="0"/>
            </a:br>
            <a:br>
              <a:rPr lang="en-US" sz="3200" dirty="0"/>
            </a:br>
            <a:r>
              <a:rPr lang="en-IN" sz="3200" dirty="0"/>
              <a:t>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22D2FABB-946F-496B-B314-36EC21094921}"/>
              </a:ext>
            </a:extLst>
          </p:cNvPr>
          <p:cNvPicPr>
            <a:picLocks noChangeAspect="1"/>
          </p:cNvPicPr>
          <p:nvPr/>
        </p:nvPicPr>
        <p:blipFill>
          <a:blip r:embed="rId4"/>
          <a:stretch>
            <a:fillRect/>
          </a:stretch>
        </p:blipFill>
        <p:spPr>
          <a:xfrm>
            <a:off x="1764498" y="2044515"/>
            <a:ext cx="6758992" cy="4569499"/>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xfrm>
            <a:off x="426000" y="3098028"/>
            <a:ext cx="11340000" cy="700114"/>
          </a:xfrm>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12" name="Text Placeholder 11">
            <a:extLst>
              <a:ext uri="{FF2B5EF4-FFF2-40B4-BE49-F238E27FC236}">
                <a16:creationId xmlns:a16="http://schemas.microsoft.com/office/drawing/2014/main" id="{BC277FD7-925B-4C3D-A364-118403201507}"/>
              </a:ext>
            </a:extLst>
          </p:cNvPr>
          <p:cNvSpPr>
            <a:spLocks noGrp="1"/>
          </p:cNvSpPr>
          <p:nvPr>
            <p:ph type="body" sz="quarter" idx="12"/>
          </p:nvPr>
        </p:nvSpPr>
        <p:spPr>
          <a:xfrm>
            <a:off x="2946192" y="1544377"/>
            <a:ext cx="6299616" cy="2508188"/>
          </a:xfrm>
        </p:spPr>
        <p:txBody>
          <a:bodyPr>
            <a:normAutofit/>
          </a:bodyPr>
          <a:lstStyle/>
          <a:p>
            <a:r>
              <a:rPr lang="en-US" dirty="0"/>
              <a:t>NAME RUSHIKES MAHENDRA GOGULA </a:t>
            </a:r>
          </a:p>
          <a:p>
            <a:r>
              <a:rPr lang="en-IN" dirty="0"/>
              <a:t>VOIS MAJOR PPT</a:t>
            </a:r>
          </a:p>
        </p:txBody>
      </p:sp>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2.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3.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Facet</Template>
  <TotalTime>694</TotalTime>
  <Words>914</Words>
  <Application>Microsoft Office PowerPoint</Application>
  <PresentationFormat>Widescreen</PresentationFormat>
  <Paragraphs>62</Paragraphs>
  <Slides>14</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14</vt:i4>
      </vt:variant>
    </vt:vector>
  </HeadingPairs>
  <TitlesOfParts>
    <vt:vector size="21" baseType="lpstr">
      <vt:lpstr>__Plus_Jakarta_Sans_a11773</vt:lpstr>
      <vt:lpstr>Arial</vt:lpstr>
      <vt:lpstr>Calibri</vt:lpstr>
      <vt:lpstr>Trebuchet MS</vt:lpstr>
      <vt:lpstr>Wingdings</vt:lpstr>
      <vt:lpstr>Wingdings 3</vt:lpstr>
      <vt:lpstr>Facet</vt:lpstr>
      <vt:lpstr>Project Title –VOIS MAJOR PROJECT PPT</vt:lpstr>
      <vt:lpstr>PROBLEM  STATEMENT</vt:lpstr>
      <vt:lpstr> Project Description  The project focuses on analyzing agricultural data collected across different seasons, crops, geographical areas and farming conditions. The dataset contains information about environmental conditions, irrigation methods, crop yield, production, water usage, water efficiency, market prices, costs and profits. The data was explored, cleaned and analyzed using statistical techniques and data visualization methods. The analysis compares agricultural performance across seasons, irrigation methods and crops and investigates relationships between environmental factors and agricultural outcomes. The main aim is to generate meaningful insights that can support evidence-based agricultural planning.  </vt:lpstr>
      <vt:lpstr>WHO ARE THE END USERS?</vt:lpstr>
      <vt:lpstr>Technology Used</vt:lpstr>
      <vt:lpstr>RESULTS BARCHART </vt:lpstr>
      <vt:lpstr>RESULTS HISTOGRAM </vt:lpstr>
      <vt:lpstr>RESULTS BOX PLOT </vt:lpstr>
      <vt:lpstr>RESULTS SCATTERPLOT </vt:lpstr>
      <vt:lpstr>RESULTS HEATMAP </vt:lpstr>
      <vt:lpstr>Future scope  • Develop predictive models for crop yield and profitability. • Use larger and more recent agricultural datasets. • Include real-time weather and soil data. • Develop crop-specific recommendation systems. • Build interactive dashboards for farmers and agricultural planners. • Analyze regional and district-level agricultural patterns. • Use machine learning to predict seasonal agricultural performance. • Integrate market-price forecasting for better crop planning.</vt:lpstr>
      <vt:lpstr>GitHub Link https://github.com/rushikeshgogula05-lang/Seasonal-Agriculture-Performance-Analysis </vt:lpstr>
      <vt:lpstr>VOIS Course completion certificate - RUSHIKESH DATA VISULAISATION CERTIFICATE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rushikesh gogula</cp:lastModifiedBy>
  <cp:revision>101</cp:revision>
  <dcterms:created xsi:type="dcterms:W3CDTF">2021-07-11T13:13:15Z</dcterms:created>
  <dcterms:modified xsi:type="dcterms:W3CDTF">2026-09-09T11:33:44Z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