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033" autoAdjust="0"/>
  </p:normalViewPr>
  <p:slideViewPr>
    <p:cSldViewPr snapToGrid="0">
      <p:cViewPr varScale="1">
        <p:scale>
          <a:sx n="44" d="100"/>
          <a:sy n="44" d="100"/>
        </p:scale>
        <p:origin x="864"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file/d/1Mc97B3NMHlMA3V-xCTGgE2XWhKcNhulN/view?usp=sharing"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407979" y="3220278"/>
            <a:ext cx="5594884" cy="1113355"/>
          </a:xfrm>
        </p:spPr>
        <p:txBody>
          <a:bodyPr vert="horz" lIns="91440" tIns="45720" rIns="91440" bIns="45720" rtlCol="0" anchor="t">
            <a:normAutofit lnSpcReduction="10000"/>
          </a:bodyPr>
          <a:lstStyle/>
          <a:p>
            <a:pPr algn="r"/>
            <a:r>
              <a:rPr lang="en-US" b="0" dirty="0">
                <a:solidFill>
                  <a:schemeClr val="tx1"/>
                </a:solidFill>
              </a:rPr>
              <a:t>[Student Name RUSHIKESH MAHENDRA GOGULA</a:t>
            </a:r>
            <a:endParaRPr lang="en-IN" b="0" dirty="0">
              <a:solidFill>
                <a:schemeClr val="tx1"/>
              </a:solidFill>
            </a:endParaRPr>
          </a:p>
          <a:p>
            <a:pPr algn="r"/>
            <a:r>
              <a:rPr lang="en-US" b="0" dirty="0">
                <a:solidFill>
                  <a:schemeClr val="tx1"/>
                </a:solidFill>
              </a:rPr>
              <a:t>College Name-SASMIRA INSTITUTE OF COMMERCE AND SCIENCE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40501" y="1567382"/>
            <a:ext cx="4998720" cy="922270"/>
          </a:xfrm>
        </p:spPr>
        <p:txBody>
          <a:bodyPr>
            <a:normAutofit fontScale="90000"/>
          </a:bodyPr>
          <a:lstStyle/>
          <a:p>
            <a:pPr algn="ctr"/>
            <a:r>
              <a:rPr lang="en-GB" sz="3200" dirty="0"/>
              <a:t>Project Title –VOIS MAJOR PROJECT PPT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407979" y="4402629"/>
            <a:ext cx="5738191" cy="769441"/>
          </a:xfrm>
          <a:prstGeom prst="rect">
            <a:avLst/>
          </a:prstGeom>
          <a:noFill/>
        </p:spPr>
        <p:txBody>
          <a:bodyPr wrap="square" rtlCol="0">
            <a:spAutoFit/>
          </a:bodyPr>
          <a:lstStyle/>
          <a:p>
            <a:r>
              <a:rPr lang="en-US" sz="2200" b="1" dirty="0"/>
              <a:t>AICTE STU ID : </a:t>
            </a:r>
            <a:r>
              <a:rPr lang="en-IN" sz="2200" b="1" i="0" dirty="0">
                <a:solidFill>
                  <a:srgbClr val="020617"/>
                </a:solidFill>
                <a:effectLst/>
                <a:latin typeface="__Plus_Jakarta_Sans_a11773"/>
              </a:rPr>
              <a:t>STU6a619feb072c31784782827</a:t>
            </a:r>
            <a:endParaRPr lang="en-US" sz="22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682516"/>
            <a:ext cx="6703726" cy="4789404"/>
          </a:xfrm>
        </p:spPr>
        <p:txBody>
          <a:bodyPr vert="horz" lIns="91440" tIns="45720" rIns="91440" bIns="45720" rtlCol="0" anchor="t">
            <a:normAutofit fontScale="62500" lnSpcReduction="20000"/>
          </a:bodyPr>
          <a:lstStyle/>
          <a:p>
            <a:pPr marL="0" indent="0">
              <a:lnSpc>
                <a:spcPct val="150000"/>
              </a:lnSpc>
              <a:buNone/>
            </a:pPr>
            <a:r>
              <a:rPr lang="en-US" sz="2800" b="1"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b="1"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95951" y="424070"/>
            <a:ext cx="9325127" cy="5698435"/>
          </a:xfrm>
        </p:spPr>
        <p:txBody>
          <a:bodyPr>
            <a:normAutofit fontScale="90000"/>
          </a:bodyPr>
          <a:lstStyle/>
          <a:p>
            <a:br>
              <a:rPr lang="en-GB" dirty="0"/>
            </a:br>
            <a:r>
              <a:rPr lang="en-GB" dirty="0"/>
              <a:t>Project Description</a:t>
            </a:r>
            <a:br>
              <a:rPr lang="en-GB" dirty="0"/>
            </a:br>
            <a:r>
              <a:rPr lang="en-GB" dirty="0"/>
              <a:t> </a:t>
            </a:r>
            <a:r>
              <a:rPr lang="en-US" sz="2400" dirty="0"/>
              <a:t>The project focuses on analyzing agricultural data collected across different seasons, crops, geographical areas and farming conditions.</a:t>
            </a:r>
            <a:br>
              <a:rPr lang="en-US" sz="2400" dirty="0"/>
            </a:br>
            <a:r>
              <a:rPr lang="en-US" sz="2400" dirty="0"/>
              <a:t>The dataset contains information about environmental conditions, irrigation methods, crop yield, production, water usage, water efficiency, market prices, costs and profits.</a:t>
            </a:r>
            <a:br>
              <a:rPr lang="en-US" sz="2400" dirty="0"/>
            </a:br>
            <a:r>
              <a:rPr lang="en-US" sz="2400" dirty="0"/>
              <a:t>The data was explored, cleaned and analyzed using statistical techniques and data visualization methods.</a:t>
            </a:r>
            <a:br>
              <a:rPr lang="en-US" sz="2400" dirty="0"/>
            </a:br>
            <a:r>
              <a:rPr lang="en-US" sz="2400" dirty="0"/>
              <a:t>The analysis compares agricultural performance across seasons, irrigation methods and crops and investigates relationships between environmental factors and agricultural outcomes.</a:t>
            </a:r>
            <a:br>
              <a:rPr lang="en-US" sz="2400" dirty="0"/>
            </a:br>
            <a:r>
              <a:rPr lang="en-US" sz="2400" dirty="0"/>
              <a:t>The main aim is to generate meaningful insights that can support evidence-based agricultural planning.</a:t>
            </a:r>
            <a:br>
              <a:rPr lang="en-US"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55102" y="1761727"/>
            <a:ext cx="8025076" cy="4082485"/>
          </a:xfrm>
        </p:spPr>
        <p:txBody>
          <a:bodyPr>
            <a:normAutofit/>
          </a:bodyPr>
          <a:lstStyle/>
          <a:p>
            <a:pPr marL="0" indent="0" algn="just">
              <a:lnSpc>
                <a:spcPct val="150000"/>
              </a:lnSpc>
              <a:buNone/>
            </a:pPr>
            <a:r>
              <a:rPr lang="en-US" sz="2800" dirty="0"/>
              <a:t>• Farmers and agricultural producers</a:t>
            </a:r>
            <a:br>
              <a:rPr lang="en-US" sz="2800" dirty="0"/>
            </a:br>
            <a:r>
              <a:rPr lang="en-US" sz="2800" dirty="0"/>
              <a:t>• Agricultural planners and consultants</a:t>
            </a:r>
            <a:br>
              <a:rPr lang="en-US" sz="2800" dirty="0"/>
            </a:br>
            <a:r>
              <a:rPr lang="en-US" sz="2800" dirty="0"/>
              <a:t>• Government and agricultural departments</a:t>
            </a:r>
            <a:br>
              <a:rPr lang="en-US" sz="2800" dirty="0"/>
            </a:br>
            <a:r>
              <a:rPr lang="en-US" sz="2800" dirty="0"/>
              <a:t>• Agricultural researchers and students</a:t>
            </a:r>
            <a:br>
              <a:rPr lang="en-US" sz="2800" dirty="0"/>
            </a:br>
            <a:r>
              <a:rPr lang="en-US" sz="2800" dirty="0"/>
              <a:t>• Organizations involved in agricultural resource management</a:t>
            </a:r>
            <a:endParaRPr lang="en-IN" sz="25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417287"/>
            <a:ext cx="9853312" cy="4854270"/>
          </a:xfrm>
        </p:spPr>
        <p:txBody>
          <a:bodyPr/>
          <a:lstStyle/>
          <a:p>
            <a:pPr lvl="1">
              <a:lnSpc>
                <a:spcPct val="150000"/>
              </a:lnSpc>
            </a:pPr>
            <a:r>
              <a:rPr lang="en-IN" dirty="0"/>
              <a:t>• </a:t>
            </a:r>
            <a:r>
              <a:rPr lang="en-IN" b="1" dirty="0"/>
              <a:t>Python</a:t>
            </a:r>
            <a:r>
              <a:rPr lang="en-IN" dirty="0"/>
              <a:t> – Data analysis and programming</a:t>
            </a:r>
            <a:br>
              <a:rPr lang="en-IN" dirty="0"/>
            </a:br>
            <a:r>
              <a:rPr lang="en-IN" dirty="0"/>
              <a:t>• </a:t>
            </a:r>
            <a:r>
              <a:rPr lang="en-IN" b="1" dirty="0"/>
              <a:t>Pandas</a:t>
            </a:r>
            <a:r>
              <a:rPr lang="en-IN" dirty="0"/>
              <a:t> – Data loading, cleaning and analysis</a:t>
            </a:r>
            <a:br>
              <a:rPr lang="en-IN" dirty="0"/>
            </a:br>
            <a:r>
              <a:rPr lang="en-IN" dirty="0"/>
              <a:t>• </a:t>
            </a:r>
            <a:r>
              <a:rPr lang="en-IN" b="1" dirty="0"/>
              <a:t>NumPy</a:t>
            </a:r>
            <a:r>
              <a:rPr lang="en-IN" dirty="0"/>
              <a:t> – Numerical operations</a:t>
            </a:r>
            <a:br>
              <a:rPr lang="en-IN" dirty="0"/>
            </a:br>
            <a:r>
              <a:rPr lang="en-IN" dirty="0"/>
              <a:t>• </a:t>
            </a:r>
            <a:r>
              <a:rPr lang="en-IN" b="1" dirty="0"/>
              <a:t>Matplotlib</a:t>
            </a:r>
            <a:r>
              <a:rPr lang="en-IN" dirty="0"/>
              <a:t> – Data visualization</a:t>
            </a:r>
            <a:br>
              <a:rPr lang="en-IN" dirty="0"/>
            </a:br>
            <a:r>
              <a:rPr lang="en-IN" dirty="0"/>
              <a:t>• </a:t>
            </a:r>
            <a:r>
              <a:rPr lang="en-IN" b="1" dirty="0"/>
              <a:t>Seaborn</a:t>
            </a:r>
            <a:r>
              <a:rPr lang="en-IN" dirty="0"/>
              <a:t> – Statistical visualizations</a:t>
            </a:r>
            <a:br>
              <a:rPr lang="en-IN" dirty="0"/>
            </a:br>
            <a:r>
              <a:rPr lang="en-IN" dirty="0"/>
              <a:t>• </a:t>
            </a:r>
            <a:r>
              <a:rPr lang="en-IN" b="1" dirty="0"/>
              <a:t>SciPy</a:t>
            </a:r>
            <a:r>
              <a:rPr lang="en-IN" dirty="0"/>
              <a:t> – Statistical analysis and ANOVA</a:t>
            </a:r>
            <a:br>
              <a:rPr lang="en-IN" dirty="0"/>
            </a:br>
            <a:r>
              <a:rPr lang="en-IN" dirty="0"/>
              <a:t>• </a:t>
            </a:r>
            <a:r>
              <a:rPr lang="en-IN" b="1" dirty="0"/>
              <a:t>Google </a:t>
            </a:r>
            <a:r>
              <a:rPr lang="en-IN" b="1" dirty="0" err="1"/>
              <a:t>Colab</a:t>
            </a:r>
            <a:r>
              <a:rPr lang="en-IN" b="1" dirty="0"/>
              <a:t> / </a:t>
            </a:r>
            <a:r>
              <a:rPr lang="en-IN" b="1" dirty="0" err="1"/>
              <a:t>Jupyter</a:t>
            </a:r>
            <a:r>
              <a:rPr lang="en-IN" b="1" dirty="0"/>
              <a:t> Notebook</a:t>
            </a:r>
            <a:r>
              <a:rPr lang="en-IN" dirty="0"/>
              <a:t> – Development and execution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536361"/>
            <a:ext cx="5451587" cy="4046268"/>
          </a:xfrm>
        </p:spPr>
        <p:txBody>
          <a:bodyPr vert="horz" lIns="91440" tIns="45720" rIns="91440" bIns="45720" rtlCol="0" anchor="t">
            <a:normAutofit fontScale="70000" lnSpcReduction="20000"/>
          </a:bodyPr>
          <a:lstStyle/>
          <a:p>
            <a:r>
              <a:rPr lang="en-US" b="1" dirty="0"/>
              <a:t>Title:</a:t>
            </a:r>
          </a:p>
          <a:p>
            <a:r>
              <a:rPr lang="en-US" b="1" dirty="0"/>
              <a:t>Average Crop Yield Across Irrigation Methods by Season</a:t>
            </a:r>
            <a:endParaRPr lang="en-US" dirty="0"/>
          </a:p>
          <a:p>
            <a:r>
              <a:rPr lang="en-US" b="1" dirty="0"/>
              <a:t>Explanation:</a:t>
            </a:r>
          </a:p>
          <a:p>
            <a:r>
              <a:rPr lang="en-US" dirty="0"/>
              <a:t>The grouped bar chart compares the average crop yield for different irrigation methods across Kharif, Rabi and Zaid seasons.</a:t>
            </a:r>
          </a:p>
          <a:p>
            <a:r>
              <a:rPr lang="en-US" dirty="0"/>
              <a:t>It helps identify how irrigation methods are associated with agricultural productivity under different seasonal conditions.</a:t>
            </a:r>
          </a:p>
          <a:p>
            <a:r>
              <a:rPr lang="en-US" dirty="0"/>
              <a:t>The analysis shows differences in average yield between irrigation methods, with </a:t>
            </a:r>
            <a:r>
              <a:rPr lang="en-US" b="1" dirty="0"/>
              <a:t>Drip irrigation showing the highest overall average yield</a:t>
            </a:r>
            <a:r>
              <a:rPr lang="en-US" dirty="0"/>
              <a:t> among the methods analyzed.</a:t>
            </a:r>
          </a:p>
          <a:p>
            <a:r>
              <a:rPr lang="en-US" dirty="0"/>
              <a:t>This visualization helps compare productivity and understand the role of irrigation practices in agricultural performance.</a:t>
            </a:r>
          </a:p>
          <a:p>
            <a:pPr marL="0" indent="0">
              <a:buNone/>
            </a:pPr>
            <a:endParaRPr lang="en-IN" dirty="0"/>
          </a:p>
        </p:txBody>
      </p:sp>
      <p:pic>
        <p:nvPicPr>
          <p:cNvPr id="12" name="Picture 11">
            <a:extLst>
              <a:ext uri="{FF2B5EF4-FFF2-40B4-BE49-F238E27FC236}">
                <a16:creationId xmlns:a16="http://schemas.microsoft.com/office/drawing/2014/main" id="{7CA86255-EEDD-411B-9F16-9199DD52AA13}"/>
              </a:ext>
            </a:extLst>
          </p:cNvPr>
          <p:cNvPicPr>
            <a:picLocks noChangeAspect="1"/>
          </p:cNvPicPr>
          <p:nvPr/>
        </p:nvPicPr>
        <p:blipFill>
          <a:blip r:embed="rId3"/>
          <a:stretch>
            <a:fillRect/>
          </a:stretch>
        </p:blipFill>
        <p:spPr>
          <a:xfrm>
            <a:off x="6419431" y="370589"/>
            <a:ext cx="5491190" cy="624880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785254" cy="4465524"/>
          </a:xfrm>
        </p:spPr>
        <p:txBody>
          <a:bodyPr>
            <a:normAutofit fontScale="77500" lnSpcReduction="20000"/>
          </a:bodyPr>
          <a:lstStyle/>
          <a:p>
            <a:r>
              <a:rPr lang="en-US" b="1" dirty="0"/>
              <a:t>Title:</a:t>
            </a:r>
          </a:p>
          <a:p>
            <a:r>
              <a:rPr lang="en-US" b="1" dirty="0"/>
              <a:t>Distribution of Rainfall</a:t>
            </a:r>
            <a:endParaRPr lang="en-US" dirty="0"/>
          </a:p>
          <a:p>
            <a:r>
              <a:rPr lang="en-US" b="1" dirty="0"/>
              <a:t>Explanation:</a:t>
            </a:r>
          </a:p>
          <a:p>
            <a:r>
              <a:rPr lang="en-US" dirty="0"/>
              <a:t>The histogram shows how rainfall values are distributed across the agricultural dataset.</a:t>
            </a:r>
          </a:p>
          <a:p>
            <a:r>
              <a:rPr lang="en-US" dirty="0"/>
              <a:t>It helps understand the range and frequency of different rainfall levels recorded in the farms.</a:t>
            </a:r>
          </a:p>
          <a:p>
            <a:r>
              <a:rPr lang="en-US" dirty="0"/>
              <a:t>The dataset contains rainfall values ranging from approximately </a:t>
            </a:r>
            <a:r>
              <a:rPr lang="en-US" b="1" dirty="0"/>
              <a:t>80 mm to 1395 mm</a:t>
            </a:r>
            <a:r>
              <a:rPr lang="en-US" dirty="0"/>
              <a:t>, showing considerable variation in rainfall conditions.</a:t>
            </a:r>
          </a:p>
          <a:p>
            <a:r>
              <a:rPr lang="en-US" dirty="0"/>
              <a:t>This visualization is useful for understanding the environmental conditions represented in the dataset and identifying the overall distribution of rainfall.</a:t>
            </a:r>
          </a:p>
          <a:p>
            <a:pPr marL="0" indent="0">
              <a:buNone/>
            </a:pPr>
            <a:endParaRPr lang="en-IN" dirty="0"/>
          </a:p>
        </p:txBody>
      </p:sp>
      <p:pic>
        <p:nvPicPr>
          <p:cNvPr id="3" name="Picture 2">
            <a:extLst>
              <a:ext uri="{FF2B5EF4-FFF2-40B4-BE49-F238E27FC236}">
                <a16:creationId xmlns:a16="http://schemas.microsoft.com/office/drawing/2014/main" id="{C4A74706-F06D-4AC9-B8C4-9FE5C7A26B7E}"/>
              </a:ext>
            </a:extLst>
          </p:cNvPr>
          <p:cNvPicPr>
            <a:picLocks noChangeAspect="1"/>
          </p:cNvPicPr>
          <p:nvPr/>
        </p:nvPicPr>
        <p:blipFill>
          <a:blip r:embed="rId3"/>
          <a:stretch>
            <a:fillRect/>
          </a:stretch>
        </p:blipFill>
        <p:spPr>
          <a:xfrm>
            <a:off x="6599583" y="482653"/>
            <a:ext cx="5271435" cy="618230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2" y="1431693"/>
            <a:ext cx="5443780" cy="4796829"/>
          </a:xfrm>
        </p:spPr>
        <p:txBody>
          <a:bodyPr>
            <a:normAutofit fontScale="92500" lnSpcReduction="20000"/>
          </a:bodyPr>
          <a:lstStyle/>
          <a:p>
            <a:r>
              <a:rPr lang="en-US" b="1" dirty="0"/>
              <a:t>Title:</a:t>
            </a:r>
          </a:p>
          <a:p>
            <a:r>
              <a:rPr lang="en-US" b="1" dirty="0"/>
              <a:t>Profit Distribution Across Major Crops</a:t>
            </a:r>
            <a:endParaRPr lang="en-US" dirty="0"/>
          </a:p>
          <a:p>
            <a:r>
              <a:rPr lang="en-US" b="1" dirty="0"/>
              <a:t>Explanation:</a:t>
            </a:r>
          </a:p>
          <a:p>
            <a:r>
              <a:rPr lang="en-US" dirty="0"/>
              <a:t>The box plot compares the distribution of agricultural profit across different crops.</a:t>
            </a:r>
          </a:p>
          <a:p>
            <a:r>
              <a:rPr lang="en-US" dirty="0"/>
              <a:t>It helps identify the </a:t>
            </a:r>
            <a:r>
              <a:rPr lang="en-US" b="1" dirty="0"/>
              <a:t>median, spread and variation</a:t>
            </a:r>
            <a:r>
              <a:rPr lang="en-US" dirty="0"/>
              <a:t> of profit values and highlights differences between crops.</a:t>
            </a:r>
          </a:p>
          <a:p>
            <a:r>
              <a:rPr lang="en-US" dirty="0"/>
              <a:t>The crop-wise analysis shows substantial differences in profitability. </a:t>
            </a:r>
            <a:r>
              <a:rPr lang="en-US" b="1" dirty="0"/>
              <a:t>Sugarcane and </a:t>
            </a:r>
            <a:r>
              <a:rPr lang="en-US" b="1" dirty="0" err="1"/>
              <a:t>Chilli</a:t>
            </a:r>
            <a:r>
              <a:rPr lang="en-US" b="1" dirty="0"/>
              <a:t> show strong average profitability</a:t>
            </a:r>
            <a:r>
              <a:rPr lang="en-US" dirty="0"/>
              <a:t>, while Wheat, Rice and Maize have negative average profit values in the dataset.</a:t>
            </a:r>
          </a:p>
          <a:p>
            <a:r>
              <a:rPr lang="en-US" dirty="0"/>
              <a:t>The visualization demonstrates that agricultural profitability can vary considerably between crops.</a:t>
            </a:r>
          </a:p>
          <a:p>
            <a:pPr marL="0" indent="0">
              <a:buNone/>
            </a:pPr>
            <a:endParaRPr lang="en-IN" dirty="0"/>
          </a:p>
        </p:txBody>
      </p:sp>
      <p:pic>
        <p:nvPicPr>
          <p:cNvPr id="3" name="Picture 2">
            <a:extLst>
              <a:ext uri="{FF2B5EF4-FFF2-40B4-BE49-F238E27FC236}">
                <a16:creationId xmlns:a16="http://schemas.microsoft.com/office/drawing/2014/main" id="{5CF9858E-8DD7-420E-997C-A8753F18E1C3}"/>
              </a:ext>
            </a:extLst>
          </p:cNvPr>
          <p:cNvPicPr>
            <a:picLocks noChangeAspect="1"/>
          </p:cNvPicPr>
          <p:nvPr/>
        </p:nvPicPr>
        <p:blipFill>
          <a:blip r:embed="rId3"/>
          <a:stretch>
            <a:fillRect/>
          </a:stretch>
        </p:blipFill>
        <p:spPr>
          <a:xfrm>
            <a:off x="6932093" y="676620"/>
            <a:ext cx="4849685" cy="579529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3"/>
            <a:ext cx="5712907" cy="4743820"/>
          </a:xfrm>
        </p:spPr>
        <p:txBody>
          <a:bodyPr>
            <a:normAutofit fontScale="85000" lnSpcReduction="10000"/>
          </a:bodyPr>
          <a:lstStyle/>
          <a:p>
            <a:r>
              <a:rPr lang="en-US" b="1" dirty="0"/>
              <a:t>Title:</a:t>
            </a:r>
          </a:p>
          <a:p>
            <a:r>
              <a:rPr lang="en-US" b="1" dirty="0"/>
              <a:t>Relationship Between Rainfall and Agricultural Yield</a:t>
            </a:r>
            <a:endParaRPr lang="en-US" dirty="0"/>
          </a:p>
          <a:p>
            <a:r>
              <a:rPr lang="en-US" b="1" dirty="0"/>
              <a:t>Explanation:</a:t>
            </a:r>
          </a:p>
          <a:p>
            <a:r>
              <a:rPr lang="en-US" dirty="0"/>
              <a:t>The scatter plot examines the relationship between rainfall and agricultural yield.</a:t>
            </a:r>
          </a:p>
          <a:p>
            <a:r>
              <a:rPr lang="en-US" dirty="0"/>
              <a:t>Each point represents an observation from the dataset, while the different seasons help compare observations under different seasonal conditions.</a:t>
            </a:r>
          </a:p>
          <a:p>
            <a:r>
              <a:rPr lang="en-US" dirty="0"/>
              <a:t>The points do not show a strong visible linear relationship between rainfall and yield.</a:t>
            </a:r>
          </a:p>
          <a:p>
            <a:r>
              <a:rPr lang="en-US" dirty="0"/>
              <a:t>The statistical analysis also shows a </a:t>
            </a:r>
            <a:r>
              <a:rPr lang="en-US" b="1" dirty="0"/>
              <a:t>very weak positive correlation between rainfall and yield</a:t>
            </a:r>
            <a:r>
              <a:rPr lang="en-US" dirty="0"/>
              <a:t>, with a correlation coefficient of approximately </a:t>
            </a:r>
            <a:r>
              <a:rPr lang="en-US" b="1" dirty="0"/>
              <a:t>0.03</a:t>
            </a:r>
            <a:r>
              <a:rPr lang="en-US" dirty="0"/>
              <a:t>.</a:t>
            </a:r>
          </a:p>
          <a:p>
            <a:r>
              <a:rPr lang="en-US" dirty="0"/>
              <a:t>Therefore, rainfall alone does not appear to explain much of the variation in yield in this dataset.</a:t>
            </a:r>
          </a:p>
          <a:p>
            <a:pPr marL="0" indent="0">
              <a:buNone/>
            </a:pPr>
            <a:endParaRPr lang="en-IN" dirty="0"/>
          </a:p>
        </p:txBody>
      </p:sp>
      <p:pic>
        <p:nvPicPr>
          <p:cNvPr id="3" name="Picture 2">
            <a:extLst>
              <a:ext uri="{FF2B5EF4-FFF2-40B4-BE49-F238E27FC236}">
                <a16:creationId xmlns:a16="http://schemas.microsoft.com/office/drawing/2014/main" id="{988A56FE-7B36-4AAB-82B1-284D136D2F0B}"/>
              </a:ext>
            </a:extLst>
          </p:cNvPr>
          <p:cNvPicPr>
            <a:picLocks noChangeAspect="1"/>
          </p:cNvPicPr>
          <p:nvPr/>
        </p:nvPicPr>
        <p:blipFill>
          <a:blip r:embed="rId3"/>
          <a:stretch>
            <a:fillRect/>
          </a:stretch>
        </p:blipFill>
        <p:spPr>
          <a:xfrm>
            <a:off x="7007466" y="393780"/>
            <a:ext cx="4816841" cy="610133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3"/>
            <a:ext cx="5288837" cy="5055718"/>
          </a:xfrm>
        </p:spPr>
        <p:txBody>
          <a:bodyPr>
            <a:normAutofit fontScale="85000" lnSpcReduction="20000"/>
          </a:bodyPr>
          <a:lstStyle/>
          <a:p>
            <a:r>
              <a:rPr lang="en-US" b="1" dirty="0"/>
              <a:t>Title:</a:t>
            </a:r>
          </a:p>
          <a:p>
            <a:r>
              <a:rPr lang="en-US" b="1" dirty="0"/>
              <a:t>Correlation Heatmap of Agricultural Variables</a:t>
            </a:r>
            <a:endParaRPr lang="en-US" dirty="0"/>
          </a:p>
          <a:p>
            <a:r>
              <a:rPr lang="en-US" b="1" dirty="0"/>
              <a:t>Explanation:</a:t>
            </a:r>
          </a:p>
          <a:p>
            <a:r>
              <a:rPr lang="en-US" dirty="0"/>
              <a:t>The heatmap shows the strength and direction of relationships between important numerical agricultural variables.</a:t>
            </a:r>
          </a:p>
          <a:p>
            <a:r>
              <a:rPr lang="en-US" dirty="0"/>
              <a:t>The strongest positive relationship with yield is observed for </a:t>
            </a:r>
            <a:r>
              <a:rPr lang="en-US" b="1" dirty="0"/>
              <a:t>Water Efficiency</a:t>
            </a:r>
            <a:r>
              <a:rPr lang="en-US" dirty="0"/>
              <a:t>, with a correlation of approximately </a:t>
            </a:r>
            <a:r>
              <a:rPr lang="en-US" b="1" dirty="0"/>
              <a:t>0.92</a:t>
            </a:r>
            <a:r>
              <a:rPr lang="en-US" dirty="0"/>
              <a:t>.</a:t>
            </a:r>
          </a:p>
          <a:p>
            <a:r>
              <a:rPr lang="en-US" dirty="0"/>
              <a:t>Profit has a moderate positive relationship with yield at approximately </a:t>
            </a:r>
            <a:r>
              <a:rPr lang="en-US" b="1" dirty="0"/>
              <a:t>0.49</a:t>
            </a:r>
            <a:r>
              <a:rPr lang="en-US" dirty="0"/>
              <a:t>, while Water Used has a moderate positive relationship of approximately </a:t>
            </a:r>
            <a:r>
              <a:rPr lang="en-US" b="1" dirty="0"/>
              <a:t>0.39</a:t>
            </a:r>
            <a:r>
              <a:rPr lang="en-US" dirty="0"/>
              <a:t>.</a:t>
            </a:r>
          </a:p>
          <a:p>
            <a:r>
              <a:rPr lang="en-US" dirty="0"/>
              <a:t>Rainfall, temperature, humidity, soil moisture and fertilizer usage show very weak linear relationships with yield.</a:t>
            </a:r>
          </a:p>
          <a:p>
            <a:r>
              <a:rPr lang="en-US" dirty="0"/>
              <a:t>The heatmap helps identify the variables that are most strongly associated with agricultural yield.</a:t>
            </a:r>
          </a:p>
          <a:p>
            <a:pPr marL="0" indent="0">
              <a:buNone/>
            </a:pPr>
            <a:endParaRPr lang="en-IN" dirty="0"/>
          </a:p>
        </p:txBody>
      </p:sp>
      <p:pic>
        <p:nvPicPr>
          <p:cNvPr id="3" name="Picture 2">
            <a:extLst>
              <a:ext uri="{FF2B5EF4-FFF2-40B4-BE49-F238E27FC236}">
                <a16:creationId xmlns:a16="http://schemas.microsoft.com/office/drawing/2014/main" id="{AE896967-C6A5-4262-B2A4-D95DFC74D326}"/>
              </a:ext>
            </a:extLst>
          </p:cNvPr>
          <p:cNvPicPr>
            <a:picLocks noChangeAspect="1"/>
          </p:cNvPicPr>
          <p:nvPr/>
        </p:nvPicPr>
        <p:blipFill>
          <a:blip r:embed="rId3"/>
          <a:stretch>
            <a:fillRect/>
          </a:stretch>
        </p:blipFill>
        <p:spPr>
          <a:xfrm>
            <a:off x="6747470" y="387842"/>
            <a:ext cx="4946005" cy="627711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8123486" cy="4320681"/>
          </a:xfrm>
        </p:spPr>
        <p:txBody>
          <a:bodyPr>
            <a:noAutofit/>
          </a:bodyPr>
          <a:lstStyle/>
          <a:p>
            <a:r>
              <a:rPr lang="en-IN" sz="2500" dirty="0"/>
              <a:t>Future scope</a:t>
            </a:r>
            <a:br>
              <a:rPr lang="en-IN" sz="2500" dirty="0"/>
            </a:br>
            <a:br>
              <a:rPr lang="en-IN" sz="2500" dirty="0"/>
            </a:br>
            <a:r>
              <a:rPr lang="en-US" sz="2500" dirty="0"/>
              <a:t>• Develop predictive models for crop yield and profitability.</a:t>
            </a:r>
            <a:br>
              <a:rPr lang="en-US" sz="2500" dirty="0"/>
            </a:br>
            <a:r>
              <a:rPr lang="en-US" sz="2500" dirty="0"/>
              <a:t>• Use larger and more recent agricultural datasets.</a:t>
            </a:r>
            <a:br>
              <a:rPr lang="en-US" sz="2500" dirty="0"/>
            </a:br>
            <a:r>
              <a:rPr lang="en-US" sz="2500" dirty="0"/>
              <a:t>• Include real-time weather and soil data.</a:t>
            </a:r>
            <a:br>
              <a:rPr lang="en-US" sz="2500" dirty="0"/>
            </a:br>
            <a:r>
              <a:rPr lang="en-US" sz="2500" dirty="0"/>
              <a:t>• Develop crop-specific recommendation systems.</a:t>
            </a:r>
            <a:br>
              <a:rPr lang="en-US" sz="2500" dirty="0"/>
            </a:br>
            <a:r>
              <a:rPr lang="en-US" sz="2500" dirty="0"/>
              <a:t>• Build interactive dashboards for farmers and agricultural planners.</a:t>
            </a:r>
            <a:br>
              <a:rPr lang="en-US" sz="2500" dirty="0"/>
            </a:br>
            <a:r>
              <a:rPr lang="en-US" sz="2500" dirty="0"/>
              <a:t>• Analyze regional and district-level agricultural patterns.</a:t>
            </a:r>
            <a:br>
              <a:rPr lang="en-US" sz="2500" dirty="0"/>
            </a:br>
            <a:r>
              <a:rPr lang="en-US" sz="2500" dirty="0"/>
              <a:t>• Use machine learning to predict seasonal agricultural performance.</a:t>
            </a:r>
            <a:br>
              <a:rPr lang="en-US" sz="2500" dirty="0"/>
            </a:br>
            <a:r>
              <a:rPr lang="en-US" sz="2500" dirty="0"/>
              <a:t>• Integrate market-price forecasting for better crop planning.</a:t>
            </a:r>
            <a:endParaRPr lang="en-IN" sz="25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1500425" y="120158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9355939" cy="1816020"/>
          </a:xfrm>
        </p:spPr>
        <p:txBody>
          <a:bodyPr>
            <a:normAutofit fontScale="90000"/>
          </a:bodyPr>
          <a:lstStyle/>
          <a:p>
            <a:r>
              <a:rPr lang="en-IN" sz="2800" dirty="0"/>
              <a:t>VOIS Course completion certificate - </a:t>
            </a:r>
            <a:r>
              <a:rPr lang="en-IN" sz="2800" dirty="0">
                <a:hlinkClick r:id="rId3"/>
              </a:rPr>
              <a:t>RUSHIKESH DATA VISULAISATION CERTIFICATE</a:t>
            </a:r>
            <a:br>
              <a:rPr lang="en-IN" sz="2800" dirty="0"/>
            </a:br>
            <a:r>
              <a:rPr lang="en-IN" sz="2800" dirty="0"/>
              <a:t>Course name- Data Visualization</a:t>
            </a:r>
            <a:br>
              <a:rPr lang="en-IN" sz="3200" dirty="0"/>
            </a:br>
            <a:br>
              <a:rPr lang="en-IN" sz="3200" dirty="0"/>
            </a:br>
            <a:br>
              <a:rPr lang="en-US" sz="3200" dirty="0"/>
            </a:br>
            <a:br>
              <a:rPr lang="en-US" sz="3200" dirty="0"/>
            </a:br>
            <a:r>
              <a:rPr lang="en-IN" sz="3200" dirty="0"/>
              <a:t>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2D2FABB-946F-496B-B314-36EC21094921}"/>
              </a:ext>
            </a:extLst>
          </p:cNvPr>
          <p:cNvPicPr>
            <a:picLocks noChangeAspect="1"/>
          </p:cNvPicPr>
          <p:nvPr/>
        </p:nvPicPr>
        <p:blipFill>
          <a:blip r:embed="rId4"/>
          <a:stretch>
            <a:fillRect/>
          </a:stretch>
        </p:blipFill>
        <p:spPr>
          <a:xfrm>
            <a:off x="1764498" y="2044515"/>
            <a:ext cx="6758992" cy="456949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690</TotalTime>
  <Words>891</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__Plus_Jakarta_Sans_a11773</vt:lpstr>
      <vt:lpstr>Arial</vt:lpstr>
      <vt:lpstr>Calibri</vt:lpstr>
      <vt:lpstr>Trebuchet MS</vt:lpstr>
      <vt:lpstr>Wingdings</vt:lpstr>
      <vt:lpstr>Wingdings 3</vt:lpstr>
      <vt:lpstr>Facet</vt:lpstr>
      <vt:lpstr>Project Title –VOIS MAJOR PROJECT PPT</vt:lpstr>
      <vt:lpstr>PROBLEM  STATEMENT</vt:lpstr>
      <vt:lpstr> Project Description  The project focuses on analyzing agricultural data collected across different seasons, crops, geographical areas and farming conditions. The dataset contains information about environmental conditions, irrigation methods, crop yield, production, water usage, water efficiency, market prices, costs and profits. The data was explored, cleaned and analyzed using statistical techniques and data visualization methods. The analysis compares agricultural performance across seasons, irrigation methods and crops and investigates relationships between environmental factors and agricultural outcomes. The main aim is to generate meaningful insights that can support evidence-based agricultural planning.  </vt:lpstr>
      <vt:lpstr>WHO ARE THE END USERS?</vt:lpstr>
      <vt:lpstr>Technology Used</vt:lpstr>
      <vt:lpstr>RESULTS </vt:lpstr>
      <vt:lpstr>RESULTS </vt:lpstr>
      <vt:lpstr>RESULTS </vt:lpstr>
      <vt:lpstr>RESULTS </vt:lpstr>
      <vt:lpstr>RESULTS </vt:lpstr>
      <vt:lpstr>Future scope  • Develop predictive models for crop yield and profitability. • Use larger and more recent agricultural datasets. • Include real-time weather and soil data. • Develop crop-specific recommendation systems. • Build interactive dashboards for farmers and agricultural planners. • Analyze regional and district-level agricultural patterns. • Use machine learning to predict seasonal agricultural performance. • Integrate market-price forecasting for better crop planning.</vt:lpstr>
      <vt:lpstr>GitHub Link</vt:lpstr>
      <vt:lpstr>VOIS Course completion certificate - RUSHIKESH DATA VISULAISATION CERTIFICATE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rushikesh gogula</cp:lastModifiedBy>
  <cp:revision>99</cp:revision>
  <dcterms:created xsi:type="dcterms:W3CDTF">2021-07-11T13:13:15Z</dcterms:created>
  <dcterms:modified xsi:type="dcterms:W3CDTF">2026-09-08T15:16:26Z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